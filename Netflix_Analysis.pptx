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7" r:id="rId2"/>
    <p:sldId id="278" r:id="rId3"/>
    <p:sldId id="258" r:id="rId4"/>
    <p:sldId id="271" r:id="rId5"/>
    <p:sldId id="270" r:id="rId6"/>
    <p:sldId id="259" r:id="rId7"/>
    <p:sldId id="257" r:id="rId8"/>
    <p:sldId id="281" r:id="rId9"/>
    <p:sldId id="274" r:id="rId10"/>
    <p:sldId id="273" r:id="rId11"/>
    <p:sldId id="272" r:id="rId12"/>
    <p:sldId id="260" r:id="rId13"/>
    <p:sldId id="275" r:id="rId14"/>
    <p:sldId id="276" r:id="rId15"/>
    <p:sldId id="263" r:id="rId16"/>
    <p:sldId id="279" r:id="rId17"/>
    <p:sldId id="280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  <a:srgbClr val="500000"/>
    <a:srgbClr val="3F120D"/>
    <a:srgbClr val="FF191E"/>
    <a:srgbClr val="360000"/>
    <a:srgbClr val="33CCFF"/>
    <a:srgbClr val="800000"/>
    <a:srgbClr val="B21212"/>
    <a:srgbClr val="0808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-147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>
              <a:defRPr sz="5400" b="1">
                <a:solidFill>
                  <a:srgbClr val="C80000"/>
                </a:solidFill>
              </a:defRPr>
            </a:pPr>
            <a:r>
              <a:t>NETFLIX CONTENT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Cinematic Motion-Texture Theme</a:t>
            </a:r>
          </a:p>
        </p:txBody>
      </p:sp>
      <p:pic>
        <p:nvPicPr>
          <p:cNvPr id="4" name="Picture 3" descr="glass_texture_bg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" y="-703631"/>
            <a:ext cx="9144001" cy="649353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4165" y="3429000"/>
            <a:ext cx="1175658" cy="117565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TextBox 8"/>
          <p:cNvSpPr txBox="1"/>
          <p:nvPr/>
        </p:nvSpPr>
        <p:spPr>
          <a:xfrm>
            <a:off x="2487880" y="4716781"/>
            <a:ext cx="4168239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IN" sz="3600" b="1" dirty="0" smtClean="0">
                <a:ln w="11430">
                  <a:solidFill>
                    <a:srgbClr val="360000"/>
                  </a:solidFill>
                </a:ln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Berlin Sans FB Demi" pitchFamily="34" charset="0"/>
              </a:rPr>
              <a:t>RESHMA S NATH</a:t>
            </a:r>
            <a:endParaRPr lang="en-IN" sz="3600" b="1" dirty="0">
              <a:ln w="11430">
                <a:solidFill>
                  <a:srgbClr val="360000"/>
                </a:solidFill>
              </a:ln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Berlin Sans FB Demi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8588" y="5638800"/>
            <a:ext cx="9401176" cy="132527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  <a:softEdge rad="127000"/>
          </a:effectLst>
        </p:spPr>
      </p:pic>
    </p:spTree>
    <p:extLst>
      <p:ext uri="{BB962C8B-B14F-4D97-AF65-F5344CB8AC3E}">
        <p14:creationId xmlns:p14="http://schemas.microsoft.com/office/powerpoint/2010/main" val="1249552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1320" y="-619349"/>
            <a:ext cx="4834162" cy="4834162"/>
          </a:xfrm>
          <a:prstGeom prst="rect">
            <a:avLst/>
          </a:prstGeom>
          <a:effectLst>
            <a:softEdge rad="635000"/>
          </a:effectLst>
        </p:spPr>
      </p:pic>
      <p:sp>
        <p:nvSpPr>
          <p:cNvPr id="5" name="TextBox 4"/>
          <p:cNvSpPr txBox="1"/>
          <p:nvPr/>
        </p:nvSpPr>
        <p:spPr>
          <a:xfrm>
            <a:off x="1541602" y="4000500"/>
            <a:ext cx="6230797" cy="230832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 prst="convex"/>
              <a:contourClr>
                <a:schemeClr val="bg2"/>
              </a:contourClr>
            </a:sp3d>
          </a:bodyPr>
          <a:lstStyle/>
          <a:p>
            <a:pPr algn="ctr"/>
            <a:r>
              <a:rPr lang="en-IN" sz="4800" b="1" dirty="0" smtClean="0">
                <a:ln w="50800"/>
                <a:solidFill>
                  <a:schemeClr val="bg1">
                    <a:shade val="50000"/>
                  </a:schemeClr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</a:effectLst>
                <a:latin typeface="Stencil Std" pitchFamily="82" charset="0"/>
              </a:rPr>
              <a:t>DESCRIPTIVE ANALYSIS ON NETFLIX CONTENT</a:t>
            </a:r>
            <a:endParaRPr lang="en-IN" sz="4800" b="1" dirty="0">
              <a:ln w="50800"/>
              <a:solidFill>
                <a:schemeClr val="bg1">
                  <a:shade val="50000"/>
                </a:schemeClr>
              </a:solidFill>
              <a:effectLst>
                <a:glow rad="101600">
                  <a:schemeClr val="accent2">
                    <a:satMod val="175000"/>
                    <a:alpha val="40000"/>
                  </a:schemeClr>
                </a:glow>
              </a:effectLst>
              <a:latin typeface="Stencil Std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4281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Total Titles: 8807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Movies: 6131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TV Shows: 2676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100+ countries represented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Multiple decades covered</a:t>
            </a:r>
          </a:p>
        </p:txBody>
      </p:sp>
      <p:pic>
        <p:nvPicPr>
          <p:cNvPr id="4" name="Picture 3" descr="glass_texture_bg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144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165" y="317089"/>
            <a:ext cx="79581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b="1" spc="5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  <a:latin typeface="Broadway" pitchFamily="82" charset="0"/>
              </a:rPr>
              <a:t>INTRODUCTION</a:t>
            </a:r>
            <a:endParaRPr lang="en-IN" sz="6000" b="1" spc="50" dirty="0">
              <a:ln w="13500">
                <a:solidFill>
                  <a:schemeClr val="accent1">
                    <a:shade val="2500"/>
                    <a:alpha val="6500"/>
                  </a:schemeClr>
                </a:solidFill>
                <a:prstDash val="solid"/>
              </a:ln>
              <a:solidFill>
                <a:schemeClr val="accent1">
                  <a:tint val="3000"/>
                  <a:alpha val="95000"/>
                </a:schemeClr>
              </a:solidFill>
              <a:effectLst>
                <a:innerShdw blurRad="50900" dist="38500" dir="13500000">
                  <a:srgbClr val="000000">
                    <a:alpha val="60000"/>
                  </a:srgbClr>
                </a:innerShdw>
              </a:effectLst>
              <a:latin typeface="Broadway" pitchFamily="8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8709" y="1944106"/>
            <a:ext cx="840658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q"/>
            </a:pPr>
            <a:r>
              <a:rPr lang="en-US" sz="2000" dirty="0"/>
              <a:t>Netflix is a leading global streaming platform offering movies, TV shows, and original content across many countries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pPr marL="342900" indent="-342900">
              <a:buFont typeface="Wingdings" pitchFamily="2" charset="2"/>
              <a:buChar char="q"/>
            </a:pPr>
            <a:r>
              <a:rPr lang="en-US" sz="2000" dirty="0"/>
              <a:t>Data analytics plays a key role in understanding content distribution, audience preferences, and growth trends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pPr marL="342900" indent="-342900">
              <a:buFont typeface="Wingdings" pitchFamily="2" charset="2"/>
              <a:buChar char="q"/>
            </a:pPr>
            <a:r>
              <a:rPr lang="en-US" sz="2000" dirty="0"/>
              <a:t>This study uses a Power BI dashboard to visually analyze Netflix’s content library by type, genre, rating, country, and year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pPr marL="342900" indent="-342900">
              <a:buFont typeface="Wingdings" pitchFamily="2" charset="2"/>
              <a:buChar char="q"/>
            </a:pPr>
            <a:r>
              <a:rPr lang="en-US" sz="2000" dirty="0"/>
              <a:t>The analysis helps in understanding how Netflix expands its catalog and maintains competitiveness in the global market. </a:t>
            </a:r>
          </a:p>
          <a:p>
            <a:pPr marL="342900" indent="-342900">
              <a:buFont typeface="Wingdings" pitchFamily="2" charset="2"/>
              <a:buChar char="q"/>
            </a:pP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C80000"/>
                </a:solidFill>
              </a:defRPr>
            </a:pPr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600200"/>
            <a:ext cx="8229600" cy="4525963"/>
          </a:xfrm>
        </p:spPr>
        <p:txBody>
          <a:bodyPr/>
          <a:lstStyle/>
          <a:p>
            <a:endParaRPr/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Total Titles: 8807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Movies: 6131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TV Shows: 2676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100+ countries represented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Multiple decades covered</a:t>
            </a:r>
          </a:p>
        </p:txBody>
      </p:sp>
      <p:pic>
        <p:nvPicPr>
          <p:cNvPr id="4" name="Picture 3" descr="glass_texture_bg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62" y="0"/>
            <a:ext cx="9144000" cy="6858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57288" y="3286125"/>
            <a:ext cx="2357438" cy="12430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  <a:latin typeface="Broadway" pitchFamily="82" charset="0"/>
              </a:rPr>
              <a:t>OBJECTIVES OF THE STUDY</a:t>
            </a:r>
            <a:endParaRPr lang="en-IN" sz="2400" b="1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FFFFFF">
                      <a:tint val="40000"/>
                      <a:satMod val="250000"/>
                    </a:srgbClr>
                  </a:gs>
                  <a:gs pos="9000">
                    <a:srgbClr val="FFFFFF">
                      <a:tint val="52000"/>
                      <a:satMod val="300000"/>
                    </a:srgbClr>
                  </a:gs>
                  <a:gs pos="50000">
                    <a:srgbClr val="FFFFFF">
                      <a:shade val="20000"/>
                      <a:satMod val="300000"/>
                    </a:srgbClr>
                  </a:gs>
                  <a:gs pos="79000">
                    <a:srgbClr val="FFFFFF">
                      <a:tint val="52000"/>
                      <a:satMod val="300000"/>
                    </a:srgbClr>
                  </a:gs>
                  <a:gs pos="100000">
                    <a:srgbClr val="FFFFFF">
                      <a:tint val="40000"/>
                      <a:satMod val="250000"/>
                    </a:srgbClr>
                  </a:gs>
                </a:gsLst>
                <a:lin ang="5400000"/>
              </a:gradFill>
              <a:latin typeface="Broadway" pitchFamily="8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29162" y="305317"/>
            <a:ext cx="4129087" cy="1940957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0">
            <a:scrgbClr r="0" g="0" b="0"/>
          </a:lnRef>
          <a:fillRef idx="1001">
            <a:schemeClr val="dk1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1. TO ANALYZE NETFLIX’S CONTENT</a:t>
            </a:r>
          </a:p>
          <a:p>
            <a:r>
              <a:rPr lang="en-IN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DISTRIBUTION :</a:t>
            </a:r>
          </a:p>
          <a:p>
            <a:pPr marL="342900" indent="-342900">
              <a:buAutoNum type="arabicPeriod"/>
            </a:pPr>
            <a:endParaRPr lang="en-IN" b="1" dirty="0" smtClean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rgbClr val="FF5050"/>
                </a:solidFill>
              </a:rPr>
              <a:t>Understand how movies, TV shows, genres, and ratings are structured across the platform</a:t>
            </a:r>
            <a:r>
              <a:rPr lang="en-US" dirty="0" smtClean="0">
                <a:solidFill>
                  <a:srgbClr val="FF5050"/>
                </a:solidFill>
              </a:rPr>
              <a:t>.</a:t>
            </a:r>
            <a:endParaRPr lang="en-IN" dirty="0" smtClean="0">
              <a:solidFill>
                <a:srgbClr val="FF505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729162" y="2360174"/>
            <a:ext cx="4112420" cy="1940957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0">
            <a:scrgbClr r="0" g="0" b="0"/>
          </a:lnRef>
          <a:fillRef idx="1001">
            <a:schemeClr val="dk1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chemeClr val="bg1"/>
                </a:solidFill>
              </a:rPr>
              <a:t>2</a:t>
            </a:r>
            <a:r>
              <a:rPr lang="en-IN" b="1" dirty="0" smtClean="0"/>
              <a:t>. </a:t>
            </a:r>
            <a:r>
              <a:rPr lang="en-US" b="1" dirty="0" smtClean="0"/>
              <a:t>TO IDENTIFY GLOBAL CONTENT     PATTERNS AND GROWTH TRENDS </a:t>
            </a:r>
            <a:r>
              <a:rPr lang="en-IN" b="1" dirty="0" smtClean="0"/>
              <a:t>:</a:t>
            </a:r>
          </a:p>
          <a:p>
            <a:endParaRPr lang="en-IN" b="1" dirty="0" smtClean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rgbClr val="FF5050"/>
                </a:solidFill>
              </a:rPr>
              <a:t>Examine country contributions, regional diversity, and year-wise expansion of the catalog.</a:t>
            </a:r>
            <a:endParaRPr lang="en-IN" b="1" dirty="0">
              <a:solidFill>
                <a:srgbClr val="FF505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745830" y="4357210"/>
            <a:ext cx="4112420" cy="2247424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0">
            <a:scrgbClr r="0" g="0" b="0"/>
          </a:lnRef>
          <a:fillRef idx="1001">
            <a:schemeClr val="dk1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US" b="1" dirty="0" smtClean="0"/>
              <a:t>3. TO DERIVE STRATEGIC INSIGHTS FOR DECISION-MAKING :</a:t>
            </a:r>
          </a:p>
          <a:p>
            <a:endParaRPr lang="en-US" b="1" dirty="0" smtClean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rgbClr val="FF5050"/>
                </a:solidFill>
              </a:rPr>
              <a:t>Provide meaningful conclusions that support content planning, audience targeting, and market expansion strategies.</a:t>
            </a:r>
            <a:endParaRPr lang="en-IN" b="1" dirty="0" smtClean="0">
              <a:solidFill>
                <a:srgbClr val="FF5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8487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C80000"/>
                </a:solidFill>
              </a:defRPr>
            </a:pPr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600200"/>
            <a:ext cx="8229600" cy="4525963"/>
          </a:xfrm>
        </p:spPr>
        <p:txBody>
          <a:bodyPr/>
          <a:lstStyle/>
          <a:p>
            <a:endParaRPr/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Total Titles: 8807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Movies: 6131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TV Shows: 2676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100+ countries represented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Multiple decades covered</a:t>
            </a:r>
          </a:p>
        </p:txBody>
      </p:sp>
      <p:pic>
        <p:nvPicPr>
          <p:cNvPr id="4" name="Picture 3" descr="glass_texture_bg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001" y="171450"/>
            <a:ext cx="2568038" cy="584775"/>
          </a:xfrm>
          <a:prstGeom prst="rect">
            <a:avLst/>
          </a:prstGeom>
          <a:solidFill>
            <a:srgbClr val="B21212"/>
          </a:solidFill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en-IN" sz="3200" b="1" dirty="0" smtClean="0">
                <a:ln w="50800"/>
                <a:solidFill>
                  <a:schemeClr val="bg1">
                    <a:shade val="50000"/>
                  </a:schemeClr>
                </a:solidFill>
                <a:latin typeface="Copperplate Gothic Bold" pitchFamily="34" charset="0"/>
              </a:rPr>
              <a:t>DATASET : </a:t>
            </a:r>
            <a:endParaRPr lang="en-IN" sz="3200" b="1" dirty="0">
              <a:ln w="50800"/>
              <a:solidFill>
                <a:schemeClr val="bg1">
                  <a:shade val="50000"/>
                </a:schemeClr>
              </a:solidFill>
              <a:latin typeface="Copperplate Gothic Bold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0" y="983092"/>
            <a:ext cx="9108000" cy="5874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480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C80000"/>
                </a:solidFill>
              </a:defRPr>
            </a:pPr>
            <a:r>
              <a:t>Top Contributing Countries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United States: 3689 titles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India: 1046 titles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United Kingdom: 804 titles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Canada: 445 titles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France: 393 titles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Japan: 318 titles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Spain: 232 titles</a:t>
            </a:r>
          </a:p>
        </p:txBody>
      </p:sp>
      <p:pic>
        <p:nvPicPr>
          <p:cNvPr id="4" name="Picture 3" descr="glass_texture_bg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42910" y="274638"/>
            <a:ext cx="80438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u="sng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  <a:latin typeface="Copperplate Gothic Bold" pitchFamily="34" charset="0"/>
              </a:rPr>
              <a:t>KEY DETAILS </a:t>
            </a:r>
            <a:endParaRPr lang="en-IN" sz="3600" b="1" u="sng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FFFFFF">
                      <a:tint val="40000"/>
                      <a:satMod val="250000"/>
                    </a:srgbClr>
                  </a:gs>
                  <a:gs pos="9000">
                    <a:srgbClr val="FFFFFF">
                      <a:tint val="52000"/>
                      <a:satMod val="300000"/>
                    </a:srgbClr>
                  </a:gs>
                  <a:gs pos="50000">
                    <a:srgbClr val="FFFFFF">
                      <a:shade val="20000"/>
                      <a:satMod val="300000"/>
                    </a:srgbClr>
                  </a:gs>
                  <a:gs pos="79000">
                    <a:srgbClr val="FFFFFF">
                      <a:tint val="52000"/>
                      <a:satMod val="300000"/>
                    </a:srgbClr>
                  </a:gs>
                  <a:gs pos="100000">
                    <a:srgbClr val="FFFFFF">
                      <a:tint val="40000"/>
                      <a:satMod val="250000"/>
                    </a:srgbClr>
                  </a:gs>
                </a:gsLst>
                <a:lin ang="5400000"/>
              </a:gradFill>
              <a:latin typeface="Copperplate Gothic Bold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2910" y="1002139"/>
            <a:ext cx="4886325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IN" sz="24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dobe Garamond Pro Bold" pitchFamily="18" charset="0"/>
              </a:rPr>
              <a:t>Number of Rows  : 7970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sz="24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dobe Garamond Pro Bold" pitchFamily="18" charset="0"/>
              </a:rPr>
              <a:t>Number of Columns  : 10</a:t>
            </a:r>
            <a:endParaRPr lang="en-IN" sz="24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dobe Garamond Pro Bold" pitchFamily="18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758610"/>
              </p:ext>
            </p:extLst>
          </p:nvPr>
        </p:nvGraphicFramePr>
        <p:xfrm>
          <a:off x="528635" y="2008923"/>
          <a:ext cx="6750844" cy="4663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71665"/>
                <a:gridCol w="4879179"/>
              </a:tblGrid>
              <a:tr h="331470">
                <a:tc>
                  <a:txBody>
                    <a:bodyPr/>
                    <a:lstStyle/>
                    <a:p>
                      <a:pPr algn="ctr"/>
                      <a:r>
                        <a:rPr lang="en-IN" sz="1600" b="1" u="none" cap="none" spc="50" dirty="0" smtClean="0">
                          <a:ln w="13500">
                            <a:solidFill>
                              <a:schemeClr val="accent1">
                                <a:shade val="2500"/>
                                <a:alpha val="6500"/>
                              </a:schemeClr>
                            </a:solidFill>
                            <a:prstDash val="solid"/>
                          </a:ln>
                          <a:solidFill>
                            <a:srgbClr val="FF505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COLUMN</a:t>
                      </a:r>
                      <a:r>
                        <a:rPr lang="en-IN" sz="1600" b="1" u="none" cap="none" spc="50" baseline="0" dirty="0" smtClean="0">
                          <a:ln w="13500">
                            <a:solidFill>
                              <a:schemeClr val="accent1">
                                <a:shade val="2500"/>
                                <a:alpha val="6500"/>
                              </a:schemeClr>
                            </a:solidFill>
                            <a:prstDash val="solid"/>
                          </a:ln>
                          <a:solidFill>
                            <a:srgbClr val="FF505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NAME</a:t>
                      </a:r>
                      <a:endParaRPr lang="en-IN" sz="1600" b="1" u="none" cap="none" spc="50" dirty="0">
                        <a:ln w="13500">
                          <a:solidFill>
                            <a:schemeClr val="accent1">
                              <a:shade val="2500"/>
                              <a:alpha val="6500"/>
                            </a:schemeClr>
                          </a:solidFill>
                          <a:prstDash val="solid"/>
                        </a:ln>
                        <a:solidFill>
                          <a:srgbClr val="FF505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800000">
                            <a:shade val="30000"/>
                            <a:satMod val="115000"/>
                          </a:srgbClr>
                        </a:gs>
                        <a:gs pos="50000">
                          <a:srgbClr val="800000">
                            <a:shade val="67500"/>
                            <a:satMod val="115000"/>
                          </a:srgbClr>
                        </a:gs>
                        <a:gs pos="100000">
                          <a:srgbClr val="800000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 smtClean="0">
                          <a:solidFill>
                            <a:srgbClr val="FF5050"/>
                          </a:solidFill>
                        </a:rPr>
                        <a:t>DESCRIPTION</a:t>
                      </a:r>
                      <a:endParaRPr lang="en-IN" sz="1800" dirty="0">
                        <a:solidFill>
                          <a:srgbClr val="FF5050"/>
                        </a:solidFill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800000">
                            <a:shade val="30000"/>
                            <a:satMod val="115000"/>
                          </a:srgbClr>
                        </a:gs>
                        <a:gs pos="50000">
                          <a:srgbClr val="800000">
                            <a:shade val="67500"/>
                            <a:satMod val="115000"/>
                          </a:srgbClr>
                        </a:gs>
                        <a:gs pos="100000">
                          <a:srgbClr val="800000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</a:tcPr>
                </a:tc>
              </a:tr>
              <a:tr h="414338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Show_id </a:t>
                      </a:r>
                      <a:endParaRPr lang="en-IN" sz="1200" b="1" dirty="0">
                        <a:solidFill>
                          <a:schemeClr val="tx1"/>
                        </a:solidFill>
                        <a:latin typeface="Adobe Gothic Std B" pitchFamily="34" charset="-128"/>
                        <a:ea typeface="Adobe Gothic Std B" pitchFamily="34" charset="-128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800000">
                            <a:shade val="30000"/>
                            <a:satMod val="115000"/>
                          </a:srgbClr>
                        </a:gs>
                        <a:gs pos="50000">
                          <a:srgbClr val="800000">
                            <a:shade val="67500"/>
                            <a:satMod val="115000"/>
                          </a:srgbClr>
                        </a:gs>
                        <a:gs pos="100000">
                          <a:srgbClr val="800000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Unique identifier assigned to each Netflix title.</a:t>
                      </a:r>
                    </a:p>
                    <a:p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800000">
                            <a:shade val="30000"/>
                            <a:satMod val="115000"/>
                          </a:srgbClr>
                        </a:gs>
                        <a:gs pos="50000">
                          <a:srgbClr val="800000">
                            <a:shade val="67500"/>
                            <a:satMod val="115000"/>
                          </a:srgbClr>
                        </a:gs>
                        <a:gs pos="100000">
                          <a:srgbClr val="800000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</a:tcPr>
                </a:tc>
              </a:tr>
              <a:tr h="414338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Type</a:t>
                      </a:r>
                      <a:endParaRPr lang="en-IN" sz="1200" b="1" dirty="0">
                        <a:solidFill>
                          <a:schemeClr val="tx1"/>
                        </a:solidFill>
                        <a:latin typeface="Adobe Gothic Std B" pitchFamily="34" charset="-128"/>
                        <a:ea typeface="Adobe Gothic Std B" pitchFamily="34" charset="-128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800000">
                            <a:shade val="30000"/>
                            <a:satMod val="115000"/>
                          </a:srgbClr>
                        </a:gs>
                        <a:gs pos="50000">
                          <a:srgbClr val="800000">
                            <a:shade val="67500"/>
                            <a:satMod val="115000"/>
                          </a:srgbClr>
                        </a:gs>
                        <a:gs pos="100000">
                          <a:srgbClr val="800000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smtClean="0">
                          <a:solidFill>
                            <a:schemeClr val="tx1"/>
                          </a:solidFill>
                        </a:rPr>
                        <a:t>Indicates whether the title is a Movie or TV Show.</a:t>
                      </a:r>
                    </a:p>
                    <a:p>
                      <a:endParaRPr lang="en-IN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800000">
                            <a:shade val="30000"/>
                            <a:satMod val="115000"/>
                          </a:srgbClr>
                        </a:gs>
                        <a:gs pos="50000">
                          <a:srgbClr val="800000">
                            <a:shade val="67500"/>
                            <a:satMod val="115000"/>
                          </a:srgbClr>
                        </a:gs>
                        <a:gs pos="100000">
                          <a:srgbClr val="800000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</a:tcPr>
                </a:tc>
              </a:tr>
              <a:tr h="414338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Title</a:t>
                      </a:r>
                      <a:endParaRPr lang="en-IN" sz="1200" b="1" dirty="0">
                        <a:solidFill>
                          <a:schemeClr val="tx1"/>
                        </a:solidFill>
                        <a:latin typeface="Adobe Gothic Std B" pitchFamily="34" charset="-128"/>
                        <a:ea typeface="Adobe Gothic Std B" pitchFamily="34" charset="-128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800000">
                            <a:shade val="30000"/>
                            <a:satMod val="115000"/>
                          </a:srgbClr>
                        </a:gs>
                        <a:gs pos="50000">
                          <a:srgbClr val="800000">
                            <a:shade val="67500"/>
                            <a:satMod val="115000"/>
                          </a:srgbClr>
                        </a:gs>
                        <a:gs pos="100000">
                          <a:srgbClr val="800000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smtClean="0">
                          <a:solidFill>
                            <a:schemeClr val="tx1"/>
                          </a:solidFill>
                        </a:rPr>
                        <a:t>Name of the movie or TV series.</a:t>
                      </a:r>
                    </a:p>
                    <a:p>
                      <a:endParaRPr lang="en-IN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800000">
                            <a:shade val="30000"/>
                            <a:satMod val="115000"/>
                          </a:srgbClr>
                        </a:gs>
                        <a:gs pos="50000">
                          <a:srgbClr val="800000">
                            <a:shade val="67500"/>
                            <a:satMod val="115000"/>
                          </a:srgbClr>
                        </a:gs>
                        <a:gs pos="100000">
                          <a:srgbClr val="800000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</a:tcPr>
                </a:tc>
              </a:tr>
              <a:tr h="414338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Country </a:t>
                      </a:r>
                      <a:endParaRPr lang="en-IN" sz="1200" b="1" dirty="0">
                        <a:solidFill>
                          <a:schemeClr val="tx1"/>
                        </a:solidFill>
                        <a:latin typeface="Adobe Gothic Std B" pitchFamily="34" charset="-128"/>
                        <a:ea typeface="Adobe Gothic Std B" pitchFamily="34" charset="-128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800000">
                            <a:shade val="30000"/>
                            <a:satMod val="115000"/>
                          </a:srgbClr>
                        </a:gs>
                        <a:gs pos="50000">
                          <a:srgbClr val="800000">
                            <a:shade val="67500"/>
                            <a:satMod val="115000"/>
                          </a:srgbClr>
                        </a:gs>
                        <a:gs pos="100000">
                          <a:srgbClr val="800000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smtClean="0">
                          <a:solidFill>
                            <a:schemeClr val="tx1"/>
                          </a:solidFill>
                        </a:rPr>
                        <a:t>Country or countries where the title was produced.</a:t>
                      </a:r>
                    </a:p>
                    <a:p>
                      <a:endParaRPr lang="en-IN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800000">
                            <a:shade val="30000"/>
                            <a:satMod val="115000"/>
                          </a:srgbClr>
                        </a:gs>
                        <a:gs pos="50000">
                          <a:srgbClr val="800000">
                            <a:shade val="67500"/>
                            <a:satMod val="115000"/>
                          </a:srgbClr>
                        </a:gs>
                        <a:gs pos="100000">
                          <a:srgbClr val="800000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</a:tcPr>
                </a:tc>
              </a:tr>
              <a:tr h="414338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Date_added</a:t>
                      </a:r>
                      <a:endParaRPr lang="en-IN" sz="1200" b="1" dirty="0">
                        <a:solidFill>
                          <a:schemeClr val="tx1"/>
                        </a:solidFill>
                        <a:latin typeface="Adobe Gothic Std B" pitchFamily="34" charset="-128"/>
                        <a:ea typeface="Adobe Gothic Std B" pitchFamily="34" charset="-128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800000">
                            <a:shade val="30000"/>
                            <a:satMod val="115000"/>
                          </a:srgbClr>
                        </a:gs>
                        <a:gs pos="50000">
                          <a:srgbClr val="800000">
                            <a:shade val="67500"/>
                            <a:satMod val="115000"/>
                          </a:srgbClr>
                        </a:gs>
                        <a:gs pos="100000">
                          <a:srgbClr val="800000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smtClean="0">
                          <a:solidFill>
                            <a:schemeClr val="tx1"/>
                          </a:solidFill>
                        </a:rPr>
                        <a:t>The date the title was added to Netflix.</a:t>
                      </a:r>
                    </a:p>
                    <a:p>
                      <a:endParaRPr lang="en-IN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800000">
                            <a:shade val="30000"/>
                            <a:satMod val="115000"/>
                          </a:srgbClr>
                        </a:gs>
                        <a:gs pos="50000">
                          <a:srgbClr val="800000">
                            <a:shade val="67500"/>
                            <a:satMod val="115000"/>
                          </a:srgbClr>
                        </a:gs>
                        <a:gs pos="100000">
                          <a:srgbClr val="800000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</a:tcPr>
                </a:tc>
              </a:tr>
              <a:tr h="414338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Release_year</a:t>
                      </a:r>
                      <a:endParaRPr lang="en-IN" sz="1200" b="1" dirty="0">
                        <a:solidFill>
                          <a:schemeClr val="tx1"/>
                        </a:solidFill>
                        <a:latin typeface="Adobe Gothic Std B" pitchFamily="34" charset="-128"/>
                        <a:ea typeface="Adobe Gothic Std B" pitchFamily="34" charset="-128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800000">
                            <a:shade val="30000"/>
                            <a:satMod val="115000"/>
                          </a:srgbClr>
                        </a:gs>
                        <a:gs pos="50000">
                          <a:srgbClr val="800000">
                            <a:shade val="67500"/>
                            <a:satMod val="115000"/>
                          </a:srgbClr>
                        </a:gs>
                        <a:gs pos="100000">
                          <a:srgbClr val="800000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smtClean="0">
                          <a:solidFill>
                            <a:schemeClr val="tx1"/>
                          </a:solidFill>
                        </a:rPr>
                        <a:t>Year in which the title was originally released.</a:t>
                      </a:r>
                    </a:p>
                    <a:p>
                      <a:endParaRPr lang="en-IN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800000">
                            <a:shade val="30000"/>
                            <a:satMod val="115000"/>
                          </a:srgbClr>
                        </a:gs>
                        <a:gs pos="50000">
                          <a:srgbClr val="800000">
                            <a:shade val="67500"/>
                            <a:satMod val="115000"/>
                          </a:srgbClr>
                        </a:gs>
                        <a:gs pos="100000">
                          <a:srgbClr val="800000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</a:tcPr>
                </a:tc>
              </a:tr>
              <a:tr h="414338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Rating</a:t>
                      </a:r>
                      <a:endParaRPr lang="en-IN" sz="1200" b="1" dirty="0">
                        <a:solidFill>
                          <a:schemeClr val="tx1"/>
                        </a:solidFill>
                        <a:latin typeface="Adobe Gothic Std B" pitchFamily="34" charset="-128"/>
                        <a:ea typeface="Adobe Gothic Std B" pitchFamily="34" charset="-128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800000">
                            <a:shade val="30000"/>
                            <a:satMod val="115000"/>
                          </a:srgbClr>
                        </a:gs>
                        <a:gs pos="50000">
                          <a:srgbClr val="800000">
                            <a:shade val="67500"/>
                            <a:satMod val="115000"/>
                          </a:srgbClr>
                        </a:gs>
                        <a:gs pos="100000">
                          <a:srgbClr val="800000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smtClean="0">
                          <a:solidFill>
                            <a:schemeClr val="tx1"/>
                          </a:solidFill>
                        </a:rPr>
                        <a:t>Content rating such as TV-MA, PG-13, R, etc.</a:t>
                      </a:r>
                    </a:p>
                    <a:p>
                      <a:endParaRPr lang="en-IN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800000">
                            <a:shade val="30000"/>
                            <a:satMod val="115000"/>
                          </a:srgbClr>
                        </a:gs>
                        <a:gs pos="50000">
                          <a:srgbClr val="800000">
                            <a:shade val="67500"/>
                            <a:satMod val="115000"/>
                          </a:srgbClr>
                        </a:gs>
                        <a:gs pos="100000">
                          <a:srgbClr val="800000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</a:tcPr>
                </a:tc>
              </a:tr>
              <a:tr h="414338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Duration</a:t>
                      </a:r>
                      <a:endParaRPr lang="en-IN" sz="1200" b="1" dirty="0">
                        <a:solidFill>
                          <a:schemeClr val="tx1"/>
                        </a:solidFill>
                        <a:latin typeface="Adobe Gothic Std B" pitchFamily="34" charset="-128"/>
                        <a:ea typeface="Adobe Gothic Std B" pitchFamily="34" charset="-128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800000">
                            <a:shade val="30000"/>
                            <a:satMod val="115000"/>
                          </a:srgbClr>
                        </a:gs>
                        <a:gs pos="50000">
                          <a:srgbClr val="800000">
                            <a:shade val="67500"/>
                            <a:satMod val="115000"/>
                          </a:srgbClr>
                        </a:gs>
                        <a:gs pos="100000">
                          <a:srgbClr val="800000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smtClean="0">
                          <a:solidFill>
                            <a:schemeClr val="tx1"/>
                          </a:solidFill>
                        </a:rPr>
                        <a:t>Length of the movie in minutes or number of seasons for TV shows.</a:t>
                      </a:r>
                    </a:p>
                    <a:p>
                      <a:endParaRPr lang="en-IN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800000">
                            <a:shade val="30000"/>
                            <a:satMod val="115000"/>
                          </a:srgbClr>
                        </a:gs>
                        <a:gs pos="50000">
                          <a:srgbClr val="800000">
                            <a:shade val="67500"/>
                            <a:satMod val="115000"/>
                          </a:srgbClr>
                        </a:gs>
                        <a:gs pos="100000">
                          <a:srgbClr val="800000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</a:tcPr>
                </a:tc>
              </a:tr>
              <a:tr h="414338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Listed_in </a:t>
                      </a:r>
                      <a:endParaRPr lang="en-IN" sz="1200" b="1" dirty="0">
                        <a:solidFill>
                          <a:schemeClr val="tx1"/>
                        </a:solidFill>
                        <a:latin typeface="Adobe Gothic Std B" pitchFamily="34" charset="-128"/>
                        <a:ea typeface="Adobe Gothic Std B" pitchFamily="34" charset="-128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800000">
                            <a:shade val="30000"/>
                            <a:satMod val="115000"/>
                          </a:srgbClr>
                        </a:gs>
                        <a:gs pos="50000">
                          <a:srgbClr val="800000">
                            <a:shade val="67500"/>
                            <a:satMod val="115000"/>
                          </a:srgbClr>
                        </a:gs>
                        <a:gs pos="100000">
                          <a:srgbClr val="800000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smtClean="0">
                          <a:solidFill>
                            <a:schemeClr val="tx1"/>
                          </a:solidFill>
                        </a:rPr>
                        <a:t>Genre(s) or categories assigned to the title.</a:t>
                      </a:r>
                    </a:p>
                    <a:p>
                      <a:endParaRPr lang="en-IN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800000">
                            <a:shade val="30000"/>
                            <a:satMod val="115000"/>
                          </a:srgbClr>
                        </a:gs>
                        <a:gs pos="50000">
                          <a:srgbClr val="800000">
                            <a:shade val="67500"/>
                            <a:satMod val="115000"/>
                          </a:srgbClr>
                        </a:gs>
                        <a:gs pos="100000">
                          <a:srgbClr val="800000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</a:tcPr>
                </a:tc>
              </a:tr>
              <a:tr h="414338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IN" sz="1200" b="1" dirty="0">
                        <a:solidFill>
                          <a:schemeClr val="tx1"/>
                        </a:solidFill>
                        <a:latin typeface="Adobe Gothic Std B" pitchFamily="34" charset="-128"/>
                        <a:ea typeface="Adobe Gothic Std B" pitchFamily="34" charset="-128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800000">
                            <a:shade val="30000"/>
                            <a:satMod val="115000"/>
                          </a:srgbClr>
                        </a:gs>
                        <a:gs pos="50000">
                          <a:srgbClr val="800000">
                            <a:shade val="67500"/>
                            <a:satMod val="115000"/>
                          </a:srgbClr>
                        </a:gs>
                        <a:gs pos="100000">
                          <a:srgbClr val="800000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smtClean="0">
                          <a:solidFill>
                            <a:schemeClr val="tx1"/>
                          </a:solidFill>
                        </a:rPr>
                        <a:t>Brief summary or synopsis of the title.</a:t>
                      </a:r>
                    </a:p>
                    <a:p>
                      <a:endParaRPr lang="en-IN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800000">
                            <a:shade val="30000"/>
                            <a:satMod val="115000"/>
                          </a:srgbClr>
                        </a:gs>
                        <a:gs pos="50000">
                          <a:srgbClr val="800000">
                            <a:shade val="67500"/>
                            <a:satMod val="115000"/>
                          </a:srgbClr>
                        </a:gs>
                        <a:gs pos="100000">
                          <a:srgbClr val="800000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glass_texture_bg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9144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8574" y="274637"/>
            <a:ext cx="9084820" cy="1015663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38100" prst="cross"/>
            </a:sp3d>
          </a:bodyPr>
          <a:lstStyle/>
          <a:p>
            <a:pPr algn="ctr"/>
            <a:r>
              <a:rPr lang="en-IN" sz="6000" b="1" dirty="0" smtClean="0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Broadway" pitchFamily="82" charset="0"/>
              </a:rPr>
              <a:t>DASHBOARD</a:t>
            </a:r>
            <a:endParaRPr lang="en-IN" sz="6000" b="1" dirty="0">
              <a:effectLst>
                <a:outerShdw blurRad="50800" dist="38100" algn="l" rotWithShape="0">
                  <a:prstClr val="black">
                    <a:alpha val="40000"/>
                  </a:prstClr>
                </a:outerShdw>
                <a:reflection blurRad="6350" stA="55000" endA="300" endPos="45500" dir="5400000" sy="-100000" algn="bl" rotWithShape="0"/>
              </a:effectLst>
              <a:latin typeface="Broadway" pitchFamily="82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4" y="1417638"/>
            <a:ext cx="9116697" cy="54403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550" y="312736"/>
            <a:ext cx="7815263" cy="85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02" b="21122"/>
          <a:stretch/>
        </p:blipFill>
        <p:spPr>
          <a:xfrm>
            <a:off x="277812" y="1171573"/>
            <a:ext cx="3836988" cy="2751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3550" y="1747166"/>
            <a:ext cx="412273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Title:</a:t>
            </a:r>
            <a:r>
              <a:rPr lang="en-US" sz="1600" dirty="0"/>
              <a:t> Distribution of Movies </a:t>
            </a:r>
            <a:r>
              <a:rPr lang="en-US" sz="1600" dirty="0" err="1"/>
              <a:t>vs</a:t>
            </a:r>
            <a:r>
              <a:rPr lang="en-US" sz="1600" dirty="0"/>
              <a:t> TV Shows</a:t>
            </a:r>
          </a:p>
          <a:p>
            <a:r>
              <a:rPr lang="en-US" sz="1600" b="1" dirty="0"/>
              <a:t>Visual Type</a:t>
            </a:r>
            <a:r>
              <a:rPr lang="en-US" sz="1600" b="1" dirty="0" smtClean="0"/>
              <a:t>: </a:t>
            </a:r>
            <a:r>
              <a:rPr lang="en-US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DONUT CHART </a:t>
            </a:r>
          </a:p>
          <a:p>
            <a:r>
              <a:rPr lang="en-US" sz="1600" b="1" dirty="0" smtClean="0"/>
              <a:t>Fields </a:t>
            </a:r>
            <a:r>
              <a:rPr lang="en-US" sz="1600" b="1" dirty="0"/>
              <a:t>Used:</a:t>
            </a:r>
            <a:endParaRPr lang="en-US" sz="1600" dirty="0"/>
          </a:p>
          <a:p>
            <a:r>
              <a:rPr lang="en-US" sz="1600" b="1" dirty="0"/>
              <a:t>Legend:</a:t>
            </a:r>
            <a:r>
              <a:rPr lang="en-US" sz="1600" dirty="0"/>
              <a:t> Content Type (Movie, TV Show)</a:t>
            </a:r>
          </a:p>
          <a:p>
            <a:r>
              <a:rPr lang="en-US" sz="1600" b="1" dirty="0"/>
              <a:t>Values:</a:t>
            </a:r>
            <a:r>
              <a:rPr lang="en-US" sz="1600" dirty="0"/>
              <a:t> Count of </a:t>
            </a:r>
            <a:r>
              <a:rPr lang="en-US" sz="1600" i="1" dirty="0"/>
              <a:t>Title ID</a:t>
            </a:r>
            <a:endParaRPr lang="en-US" sz="1600" dirty="0"/>
          </a:p>
          <a:p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02" b="21122"/>
          <a:stretch/>
        </p:blipFill>
        <p:spPr>
          <a:xfrm>
            <a:off x="334962" y="4043794"/>
            <a:ext cx="3836988" cy="275162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02" b="21122"/>
          <a:stretch/>
        </p:blipFill>
        <p:spPr>
          <a:xfrm>
            <a:off x="4441825" y="1171573"/>
            <a:ext cx="3836988" cy="275162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02" b="21122"/>
          <a:stretch/>
        </p:blipFill>
        <p:spPr>
          <a:xfrm>
            <a:off x="4572000" y="3766035"/>
            <a:ext cx="3836988" cy="275162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652565" y="1750885"/>
            <a:ext cx="341550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Title:</a:t>
            </a:r>
            <a:r>
              <a:rPr lang="en-US" dirty="0"/>
              <a:t> Distribution of Titles by Duration (Minutes)</a:t>
            </a:r>
          </a:p>
          <a:p>
            <a:r>
              <a:rPr lang="en-US" b="1" dirty="0"/>
              <a:t>Visual Type:</a:t>
            </a:r>
            <a:r>
              <a:rPr lang="en-US" dirty="0"/>
              <a:t> </a:t>
            </a:r>
            <a:r>
              <a:rPr lang="en-US" b="1" dirty="0" smtClean="0"/>
              <a:t>AREA CHART</a:t>
            </a:r>
          </a:p>
          <a:p>
            <a:r>
              <a:rPr lang="en-US" b="1" dirty="0" smtClean="0"/>
              <a:t>Fields </a:t>
            </a:r>
            <a:r>
              <a:rPr lang="en-US" b="1" dirty="0"/>
              <a:t>Used:</a:t>
            </a:r>
            <a:endParaRPr lang="en-US" dirty="0"/>
          </a:p>
          <a:p>
            <a:r>
              <a:rPr lang="en-US" b="1" dirty="0"/>
              <a:t>X-axis:</a:t>
            </a:r>
            <a:r>
              <a:rPr lang="en-US" dirty="0"/>
              <a:t> Duration (Minutes)</a:t>
            </a:r>
          </a:p>
          <a:p>
            <a:r>
              <a:rPr lang="en-US" b="1" dirty="0"/>
              <a:t>Y-axis:</a:t>
            </a:r>
            <a:r>
              <a:rPr lang="en-US" dirty="0"/>
              <a:t> Count of Titles</a:t>
            </a:r>
          </a:p>
          <a:p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688975" y="4486334"/>
            <a:ext cx="312896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Title:</a:t>
            </a:r>
            <a:r>
              <a:rPr lang="en-US" dirty="0"/>
              <a:t> Geographical Distribution of Titles</a:t>
            </a:r>
          </a:p>
          <a:p>
            <a:r>
              <a:rPr lang="en-US" b="1" dirty="0"/>
              <a:t>Visual Type:</a:t>
            </a:r>
            <a:r>
              <a:rPr lang="en-US" dirty="0"/>
              <a:t>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MAP</a:t>
            </a:r>
          </a:p>
          <a:p>
            <a:r>
              <a:rPr lang="en-US" b="1" dirty="0" smtClean="0"/>
              <a:t>Fields </a:t>
            </a:r>
            <a:r>
              <a:rPr lang="en-US" b="1" dirty="0"/>
              <a:t>Used:</a:t>
            </a:r>
            <a:endParaRPr lang="en-US" dirty="0"/>
          </a:p>
          <a:p>
            <a:r>
              <a:rPr lang="en-US" b="1" dirty="0"/>
              <a:t>Location:</a:t>
            </a:r>
            <a:r>
              <a:rPr lang="en-US" dirty="0"/>
              <a:t> Country</a:t>
            </a:r>
          </a:p>
          <a:p>
            <a:r>
              <a:rPr lang="en-US" b="1" dirty="0"/>
              <a:t>Size / Values:</a:t>
            </a:r>
            <a:r>
              <a:rPr lang="en-US" dirty="0"/>
              <a:t> Count of </a:t>
            </a:r>
            <a:r>
              <a:rPr lang="en-US" i="1" dirty="0"/>
              <a:t>Title ID</a:t>
            </a:r>
            <a:endParaRPr lang="en-US" dirty="0"/>
          </a:p>
          <a:p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4929190" y="4400668"/>
            <a:ext cx="3657600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Title:</a:t>
            </a:r>
            <a:r>
              <a:rPr lang="en-US" sz="1600" dirty="0"/>
              <a:t> Content Count by Maturity Rating</a:t>
            </a:r>
          </a:p>
          <a:p>
            <a:r>
              <a:rPr lang="en-US" sz="1600" b="1" dirty="0"/>
              <a:t>Visual Type:</a:t>
            </a:r>
            <a:r>
              <a:rPr lang="en-US" sz="1600" dirty="0"/>
              <a:t>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FUNNEL CHART</a:t>
            </a:r>
          </a:p>
          <a:p>
            <a:r>
              <a:rPr lang="en-US" sz="1600" b="1" dirty="0" smtClean="0"/>
              <a:t>Fields </a:t>
            </a:r>
            <a:r>
              <a:rPr lang="en-US" sz="1600" b="1" dirty="0"/>
              <a:t>Used:</a:t>
            </a:r>
            <a:endParaRPr lang="en-US" sz="1600" dirty="0"/>
          </a:p>
          <a:p>
            <a:r>
              <a:rPr lang="en-US" sz="1600" b="1" dirty="0"/>
              <a:t>Y-axis:</a:t>
            </a:r>
            <a:r>
              <a:rPr lang="en-US" sz="1600" dirty="0"/>
              <a:t> Maturity Rating (TV-MA, TV-14, PG-13, etc.)</a:t>
            </a:r>
          </a:p>
          <a:p>
            <a:r>
              <a:rPr lang="en-US" sz="1600" b="1" dirty="0"/>
              <a:t>X-axis:</a:t>
            </a:r>
            <a:r>
              <a:rPr lang="en-US" sz="1600" dirty="0"/>
              <a:t> Count of </a:t>
            </a:r>
            <a:r>
              <a:rPr lang="en-US" sz="1600" i="1" dirty="0"/>
              <a:t>Title ID</a:t>
            </a:r>
            <a:endParaRPr lang="en-US" sz="16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9419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C80000"/>
                </a:solidFill>
              </a:defRPr>
            </a:pPr>
            <a:r>
              <a:t>Top Contributing Countries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United States: 3689 titles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India: 1046 titles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United Kingdom: 804 titles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Canada: 445 titles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France: 393 titles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Japan: 318 titles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Spain: 232 titles</a:t>
            </a:r>
          </a:p>
        </p:txBody>
      </p:sp>
      <p:pic>
        <p:nvPicPr>
          <p:cNvPr id="4" name="Picture 3" descr="glass_texture_bg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74"/>
            <a:ext cx="9144000" cy="6858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02" b="21122"/>
          <a:stretch/>
        </p:blipFill>
        <p:spPr>
          <a:xfrm>
            <a:off x="4978400" y="3406221"/>
            <a:ext cx="3836988" cy="275162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02" b="21122"/>
          <a:stretch/>
        </p:blipFill>
        <p:spPr>
          <a:xfrm>
            <a:off x="457200" y="3444874"/>
            <a:ext cx="3836988" cy="275162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02" b="21122"/>
          <a:stretch/>
        </p:blipFill>
        <p:spPr>
          <a:xfrm>
            <a:off x="457200" y="62947"/>
            <a:ext cx="3836988" cy="338192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02" b="21122"/>
          <a:stretch/>
        </p:blipFill>
        <p:spPr>
          <a:xfrm>
            <a:off x="4572000" y="15874"/>
            <a:ext cx="4114800" cy="3429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7238" y="700088"/>
            <a:ext cx="3157537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Title:</a:t>
            </a:r>
            <a:r>
              <a:rPr lang="en-US" sz="1600" dirty="0"/>
              <a:t> Top Contributing Countries by Content Type</a:t>
            </a:r>
          </a:p>
          <a:p>
            <a:r>
              <a:rPr lang="en-US" sz="1600" b="1" dirty="0"/>
              <a:t>Visual Type:</a:t>
            </a:r>
            <a:r>
              <a:rPr lang="en-US" sz="1600" dirty="0"/>
              <a:t>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TREEMAP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1600" b="1" dirty="0"/>
              <a:t>Fields Used:</a:t>
            </a:r>
            <a:endParaRPr lang="en-US" sz="1600" dirty="0"/>
          </a:p>
          <a:p>
            <a:r>
              <a:rPr lang="en-US" sz="1600" b="1" dirty="0"/>
              <a:t>Group:</a:t>
            </a:r>
            <a:r>
              <a:rPr lang="en-US" sz="1600" dirty="0"/>
              <a:t> Country</a:t>
            </a:r>
          </a:p>
          <a:p>
            <a:r>
              <a:rPr lang="en-US" sz="1600" b="1" dirty="0"/>
              <a:t>Details:</a:t>
            </a:r>
            <a:r>
              <a:rPr lang="en-US" sz="1600" dirty="0"/>
              <a:t> Content Type (Movie, TV Show)</a:t>
            </a:r>
          </a:p>
          <a:p>
            <a:r>
              <a:rPr lang="en-US" sz="1600" b="1" dirty="0"/>
              <a:t>Values:</a:t>
            </a:r>
            <a:r>
              <a:rPr lang="en-US" sz="1600" dirty="0"/>
              <a:t> Count of </a:t>
            </a:r>
            <a:r>
              <a:rPr lang="en-US" sz="1600" i="1" dirty="0"/>
              <a:t>Title ID</a:t>
            </a:r>
            <a:endParaRPr lang="en-US" sz="1600" dirty="0"/>
          </a:p>
          <a:p>
            <a:endParaRPr lang="en-IN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4721225" y="546199"/>
            <a:ext cx="383698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Title:</a:t>
            </a:r>
            <a:r>
              <a:rPr lang="en-US" dirty="0"/>
              <a:t> Content Growth Over Years by Type and Rating</a:t>
            </a:r>
          </a:p>
          <a:p>
            <a:r>
              <a:rPr lang="en-US" b="1" dirty="0"/>
              <a:t>Visual Type:</a:t>
            </a:r>
            <a:r>
              <a:rPr lang="en-US" dirty="0"/>
              <a:t>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STACKED COLUMN CHART</a:t>
            </a:r>
          </a:p>
          <a:p>
            <a:r>
              <a:rPr lang="en-US" b="1" dirty="0" smtClean="0"/>
              <a:t>Fields </a:t>
            </a:r>
            <a:r>
              <a:rPr lang="en-US" b="1" dirty="0"/>
              <a:t>Used:</a:t>
            </a:r>
            <a:endParaRPr lang="en-US" dirty="0"/>
          </a:p>
          <a:p>
            <a:r>
              <a:rPr lang="en-US" b="1" dirty="0"/>
              <a:t>X-axis:</a:t>
            </a:r>
            <a:r>
              <a:rPr lang="en-US" dirty="0"/>
              <a:t> Release Year</a:t>
            </a:r>
          </a:p>
          <a:p>
            <a:r>
              <a:rPr lang="en-US" b="1" dirty="0"/>
              <a:t>Y-axis:</a:t>
            </a:r>
            <a:r>
              <a:rPr lang="en-US" dirty="0"/>
              <a:t> Count of Titles</a:t>
            </a:r>
          </a:p>
          <a:p>
            <a:r>
              <a:rPr lang="en-US" b="1" dirty="0"/>
              <a:t>Legend:</a:t>
            </a:r>
            <a:r>
              <a:rPr lang="en-US" dirty="0"/>
              <a:t> Content Type (Movie, TV Show)</a:t>
            </a:r>
          </a:p>
          <a:p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757238" y="4214813"/>
            <a:ext cx="3157537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 </a:t>
            </a:r>
            <a:r>
              <a:rPr lang="en-US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CONTENT TYPE SLICER</a:t>
            </a:r>
          </a:p>
          <a:p>
            <a:r>
              <a:rPr lang="en-US" b="1" dirty="0" smtClean="0"/>
              <a:t>Field:</a:t>
            </a:r>
          </a:p>
          <a:p>
            <a:r>
              <a:rPr lang="en-US" dirty="0" smtClean="0"/>
              <a:t> </a:t>
            </a:r>
            <a:r>
              <a:rPr lang="en-US" dirty="0"/>
              <a:t>Content Type (Movie / TV Show)</a:t>
            </a:r>
          </a:p>
          <a:p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5625306" y="4181868"/>
            <a:ext cx="2543175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COUNTRY OF ORIGIN SLICER</a:t>
            </a:r>
          </a:p>
          <a:p>
            <a:r>
              <a:rPr lang="en-US" b="1" dirty="0" smtClean="0"/>
              <a:t>Field:</a:t>
            </a:r>
          </a:p>
          <a:p>
            <a:r>
              <a:rPr lang="en-US" dirty="0" smtClean="0"/>
              <a:t> </a:t>
            </a:r>
            <a:r>
              <a:rPr lang="en-US" dirty="0"/>
              <a:t>Country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5563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C80000"/>
                </a:solidFill>
              </a:defRPr>
            </a:pPr>
            <a:r>
              <a:t>Top Contributing Countries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United States: 3689 titles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India: 1046 titles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United Kingdom: 804 titles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Canada: 445 titles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France: 393 titles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Japan: 318 titles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Spain: 232 titles</a:t>
            </a:r>
          </a:p>
        </p:txBody>
      </p:sp>
      <p:pic>
        <p:nvPicPr>
          <p:cNvPr id="4" name="Picture 3" descr="glass_texture_bg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14338"/>
            <a:ext cx="7800975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en-IN" sz="2800" b="1" dirty="0" smtClean="0">
                <a:ln w="50800"/>
                <a:solidFill>
                  <a:schemeClr val="accent2">
                    <a:lumMod val="60000"/>
                    <a:lumOff val="40000"/>
                  </a:schemeClr>
                </a:solidFill>
                <a:latin typeface="Copperplate Gothic Bold" pitchFamily="34" charset="0"/>
              </a:rPr>
              <a:t>NEW MEASURES : </a:t>
            </a:r>
            <a:endParaRPr lang="en-IN" sz="2800" b="1" dirty="0">
              <a:ln w="50800"/>
              <a:solidFill>
                <a:schemeClr val="accent2">
                  <a:lumMod val="60000"/>
                  <a:lumOff val="40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1497" y="1577846"/>
            <a:ext cx="7500937" cy="844808"/>
          </a:xfrm>
          <a:prstGeom prst="snip2DiagRect">
            <a:avLst/>
          </a:prstGeom>
          <a:noFill/>
          <a:ln w="19050">
            <a:solidFill>
              <a:srgbClr val="FF5050"/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IN" sz="2000" b="1" dirty="0" smtClean="0"/>
              <a:t>Top Genres </a:t>
            </a:r>
            <a:r>
              <a:rPr lang="en-IN" sz="2000" dirty="0" smtClean="0"/>
              <a:t>= </a:t>
            </a:r>
            <a:r>
              <a:rPr lang="en-IN" dirty="0" smtClean="0"/>
              <a:t>COUNTAX(VALUES(netflix_titles[</a:t>
            </a:r>
            <a:r>
              <a:rPr lang="en-IN" dirty="0" err="1" smtClean="0"/>
              <a:t>listed_in</a:t>
            </a:r>
            <a:r>
              <a:rPr lang="en-IN" dirty="0" smtClean="0"/>
              <a:t>]),netflix_titles[</a:t>
            </a:r>
            <a:r>
              <a:rPr lang="en-IN" dirty="0" err="1" smtClean="0"/>
              <a:t>listed_in</a:t>
            </a:r>
            <a:r>
              <a:rPr lang="en-IN" dirty="0" smtClean="0"/>
              <a:t>])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607218" y="2925246"/>
            <a:ext cx="7500937" cy="844808"/>
          </a:xfrm>
          <a:prstGeom prst="snip2DiagRect">
            <a:avLst/>
          </a:prstGeom>
          <a:noFill/>
          <a:ln w="19050">
            <a:solidFill>
              <a:srgbClr val="FF5050"/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000" b="1" dirty="0"/>
              <a:t>Total Movies </a:t>
            </a:r>
            <a:r>
              <a:rPr lang="en-US" sz="2000" dirty="0" smtClean="0"/>
              <a:t>=</a:t>
            </a:r>
          </a:p>
          <a:p>
            <a:r>
              <a:rPr lang="en-US" sz="2000" dirty="0" smtClean="0"/>
              <a:t> </a:t>
            </a:r>
            <a:r>
              <a:rPr lang="en-US" dirty="0"/>
              <a:t>CALCULATE(COUNTROWS(</a:t>
            </a:r>
            <a:r>
              <a:rPr lang="en-US" dirty="0" err="1"/>
              <a:t>netflix_titles</a:t>
            </a:r>
            <a:r>
              <a:rPr lang="en-US" dirty="0"/>
              <a:t>), </a:t>
            </a:r>
            <a:r>
              <a:rPr lang="en-US" dirty="0" err="1"/>
              <a:t>netflix_titles</a:t>
            </a:r>
            <a:r>
              <a:rPr lang="en-US" dirty="0"/>
              <a:t>[type</a:t>
            </a:r>
            <a:r>
              <a:rPr lang="en-US" dirty="0" smtClean="0"/>
              <a:t>]="</a:t>
            </a:r>
            <a:r>
              <a:rPr lang="en-US" dirty="0"/>
              <a:t>Movie</a:t>
            </a:r>
            <a:r>
              <a:rPr lang="en-US" dirty="0" smtClean="0"/>
              <a:t>")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07217" y="4267290"/>
            <a:ext cx="7500937" cy="771346"/>
          </a:xfrm>
          <a:prstGeom prst="snip2DiagRect">
            <a:avLst/>
          </a:prstGeom>
          <a:noFill/>
          <a:ln w="19050">
            <a:solidFill>
              <a:srgbClr val="FF5050"/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b="1" dirty="0"/>
              <a:t>Total TV Shows = </a:t>
            </a:r>
            <a:endParaRPr lang="en-US" b="1" dirty="0" smtClean="0"/>
          </a:p>
          <a:p>
            <a:r>
              <a:rPr lang="en-US" dirty="0" smtClean="0"/>
              <a:t>CALCULATE(COUNTROWS(</a:t>
            </a:r>
            <a:r>
              <a:rPr lang="en-US" dirty="0" err="1" smtClean="0"/>
              <a:t>netflix_titles</a:t>
            </a:r>
            <a:r>
              <a:rPr lang="en-US" dirty="0"/>
              <a:t>), </a:t>
            </a:r>
            <a:r>
              <a:rPr lang="en-US" dirty="0" err="1"/>
              <a:t>netflix_titles</a:t>
            </a:r>
            <a:r>
              <a:rPr lang="en-US" dirty="0"/>
              <a:t>[type] = "TV Show</a:t>
            </a:r>
            <a:r>
              <a:rPr lang="en-US" dirty="0" smtClean="0"/>
              <a:t>")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07218" y="5496014"/>
            <a:ext cx="7500937" cy="771346"/>
          </a:xfrm>
          <a:prstGeom prst="snip2DiagRect">
            <a:avLst/>
          </a:prstGeom>
          <a:noFill/>
          <a:ln w="19050">
            <a:solidFill>
              <a:srgbClr val="FF5050"/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IN" b="1" dirty="0"/>
              <a:t>Total Titles </a:t>
            </a:r>
            <a:r>
              <a:rPr lang="en-IN" b="1" dirty="0" smtClean="0"/>
              <a:t>=</a:t>
            </a:r>
          </a:p>
          <a:p>
            <a:r>
              <a:rPr lang="en-IN" dirty="0" smtClean="0"/>
              <a:t> </a:t>
            </a:r>
            <a:r>
              <a:rPr lang="en-IN" dirty="0"/>
              <a:t>COUNTROWS(netflix_titles</a:t>
            </a:r>
            <a:r>
              <a:rPr lang="en-IN" dirty="0" smtClean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3439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C80000"/>
                </a:solidFill>
              </a:defRPr>
            </a:pPr>
            <a:r>
              <a:t>Top Contributing Countries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United States: 3689 titles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India: 1046 titles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United Kingdom: 804 titles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Canada: 445 titles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France: 393 titles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Japan: 318 titles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Spain: 232 titles</a:t>
            </a:r>
          </a:p>
        </p:txBody>
      </p:sp>
      <p:pic>
        <p:nvPicPr>
          <p:cNvPr id="4" name="Picture 3" descr="glass_texture_bg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8645" y="533311"/>
            <a:ext cx="7500937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en-IN" sz="2800" b="1" dirty="0" smtClean="0">
                <a:ln w="50800"/>
                <a:solidFill>
                  <a:schemeClr val="accent2">
                    <a:lumMod val="60000"/>
                    <a:lumOff val="40000"/>
                  </a:schemeClr>
                </a:solidFill>
                <a:latin typeface="Copperplate Gothic Bold" pitchFamily="34" charset="0"/>
              </a:rPr>
              <a:t>NEW COLUMN : </a:t>
            </a:r>
            <a:endParaRPr lang="en-IN" sz="2800" b="1" dirty="0">
              <a:ln w="50800"/>
              <a:solidFill>
                <a:schemeClr val="accent2">
                  <a:lumMod val="60000"/>
                  <a:lumOff val="40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114800" y="1420813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  <a:p>
            <a:r>
              <a:rPr lang="en-IN" dirty="0"/>
              <a:t>      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45" y="1600200"/>
            <a:ext cx="7500937" cy="3452693"/>
          </a:xfrm>
          <a:prstGeom prst="snip2DiagRect">
            <a:avLst/>
          </a:prstGeom>
          <a:noFill/>
          <a:ln w="19050">
            <a:solidFill>
              <a:srgbClr val="FF5050"/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q"/>
            </a:pPr>
            <a:r>
              <a:rPr lang="en-IN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/>
              </a:rPr>
              <a:t>Duration (Minutes) =</a:t>
            </a:r>
            <a:r>
              <a:rPr lang="en-IN" sz="2000" b="1" dirty="0">
                <a:solidFill>
                  <a:srgbClr val="D4D4D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/>
              </a:rPr>
              <a:t> </a:t>
            </a:r>
          </a:p>
          <a:p>
            <a:r>
              <a:rPr lang="en-IN" dirty="0" smtClean="0">
                <a:solidFill>
                  <a:srgbClr val="4FC1FF"/>
                </a:solidFill>
                <a:latin typeface="Consolas"/>
              </a:rPr>
              <a:t>VAR</a:t>
            </a:r>
            <a:r>
              <a:rPr lang="en-IN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IN" dirty="0" err="1">
                <a:solidFill>
                  <a:srgbClr val="4EC9B0"/>
                </a:solidFill>
                <a:latin typeface="Consolas"/>
              </a:rPr>
              <a:t>DurationText</a:t>
            </a:r>
            <a:r>
              <a:rPr lang="en-IN" dirty="0">
                <a:solidFill>
                  <a:srgbClr val="D4D4D4"/>
                </a:solidFill>
                <a:latin typeface="Consolas"/>
              </a:rPr>
              <a:t> = </a:t>
            </a:r>
            <a:r>
              <a:rPr lang="en-IN" dirty="0">
                <a:solidFill>
                  <a:srgbClr val="9CDCFE"/>
                </a:solidFill>
                <a:latin typeface="Consolas"/>
              </a:rPr>
              <a:t>netflix_titles[duration]</a:t>
            </a:r>
            <a:endParaRPr lang="en-IN" dirty="0">
              <a:solidFill>
                <a:srgbClr val="D4D4D4"/>
              </a:solidFill>
              <a:latin typeface="Consolas"/>
            </a:endParaRPr>
          </a:p>
          <a:p>
            <a:r>
              <a:rPr lang="en-IN" dirty="0">
                <a:solidFill>
                  <a:srgbClr val="4FC1FF"/>
                </a:solidFill>
                <a:latin typeface="Consolas"/>
              </a:rPr>
              <a:t>VAR</a:t>
            </a:r>
            <a:r>
              <a:rPr lang="en-IN" dirty="0">
                <a:solidFill>
                  <a:srgbClr val="D4D4D4"/>
                </a:solidFill>
                <a:latin typeface="Consolas"/>
              </a:rPr>
              <a:t> </a:t>
            </a:r>
            <a:r>
              <a:rPr lang="en-IN" dirty="0">
                <a:solidFill>
                  <a:srgbClr val="4EC9B0"/>
                </a:solidFill>
                <a:latin typeface="Consolas"/>
              </a:rPr>
              <a:t>Minutes</a:t>
            </a:r>
            <a:r>
              <a:rPr lang="en-IN" dirty="0">
                <a:solidFill>
                  <a:srgbClr val="D4D4D4"/>
                </a:solidFill>
                <a:latin typeface="Consolas"/>
              </a:rPr>
              <a:t> =</a:t>
            </a:r>
          </a:p>
          <a:p>
            <a:r>
              <a:rPr lang="en-IN" dirty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IN" dirty="0">
                <a:solidFill>
                  <a:srgbClr val="569CD6"/>
                </a:solidFill>
                <a:latin typeface="Consolas"/>
              </a:rPr>
              <a:t>IF</a:t>
            </a:r>
            <a:r>
              <a:rPr lang="en-IN" dirty="0">
                <a:solidFill>
                  <a:srgbClr val="D4D4D4"/>
                </a:solidFill>
                <a:latin typeface="Consolas"/>
              </a:rPr>
              <a:t>(</a:t>
            </a:r>
          </a:p>
          <a:p>
            <a:r>
              <a:rPr lang="en-IN" dirty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IN" dirty="0">
                <a:solidFill>
                  <a:srgbClr val="569CD6"/>
                </a:solidFill>
                <a:latin typeface="Consolas"/>
              </a:rPr>
              <a:t>SEARCH</a:t>
            </a:r>
            <a:r>
              <a:rPr lang="en-IN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IN" dirty="0">
                <a:solidFill>
                  <a:srgbClr val="D16989"/>
                </a:solidFill>
                <a:latin typeface="Consolas"/>
              </a:rPr>
              <a:t>"min"</a:t>
            </a:r>
            <a:r>
              <a:rPr lang="en-IN" dirty="0">
                <a:solidFill>
                  <a:srgbClr val="D4D4D4"/>
                </a:solidFill>
                <a:latin typeface="Consolas"/>
              </a:rPr>
              <a:t>, </a:t>
            </a:r>
            <a:r>
              <a:rPr lang="en-IN" dirty="0" err="1">
                <a:solidFill>
                  <a:srgbClr val="4EC9B0"/>
                </a:solidFill>
                <a:latin typeface="Consolas"/>
              </a:rPr>
              <a:t>DurationText</a:t>
            </a:r>
            <a:r>
              <a:rPr lang="en-IN" dirty="0">
                <a:solidFill>
                  <a:srgbClr val="D4D4D4"/>
                </a:solidFill>
                <a:latin typeface="Consolas"/>
              </a:rPr>
              <a:t>, </a:t>
            </a:r>
            <a:r>
              <a:rPr lang="en-IN" dirty="0">
                <a:solidFill>
                  <a:srgbClr val="B5CEA8"/>
                </a:solidFill>
                <a:latin typeface="Consolas"/>
              </a:rPr>
              <a:t>1</a:t>
            </a:r>
            <a:r>
              <a:rPr lang="en-IN" dirty="0">
                <a:solidFill>
                  <a:srgbClr val="D4D4D4"/>
                </a:solidFill>
                <a:latin typeface="Consolas"/>
              </a:rPr>
              <a:t>, </a:t>
            </a:r>
            <a:r>
              <a:rPr lang="en-IN" dirty="0">
                <a:solidFill>
                  <a:srgbClr val="B5CEA8"/>
                </a:solidFill>
                <a:latin typeface="Consolas"/>
              </a:rPr>
              <a:t>0</a:t>
            </a:r>
            <a:r>
              <a:rPr lang="en-IN" dirty="0">
                <a:solidFill>
                  <a:srgbClr val="D4D4D4"/>
                </a:solidFill>
                <a:latin typeface="Consolas"/>
              </a:rPr>
              <a:t>) &gt; </a:t>
            </a:r>
            <a:r>
              <a:rPr lang="en-IN" dirty="0">
                <a:solidFill>
                  <a:srgbClr val="B5CEA8"/>
                </a:solidFill>
                <a:latin typeface="Consolas"/>
              </a:rPr>
              <a:t>0</a:t>
            </a:r>
            <a:r>
              <a:rPr lang="en-IN" dirty="0">
                <a:solidFill>
                  <a:srgbClr val="D4D4D4"/>
                </a:solidFill>
                <a:latin typeface="Consolas"/>
              </a:rPr>
              <a:t>,</a:t>
            </a:r>
          </a:p>
          <a:p>
            <a:r>
              <a:rPr lang="en-IN" dirty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IN" dirty="0">
                <a:solidFill>
                  <a:srgbClr val="569CD6"/>
                </a:solidFill>
                <a:latin typeface="Consolas"/>
              </a:rPr>
              <a:t>VALUE</a:t>
            </a:r>
            <a:r>
              <a:rPr lang="en-IN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IN" dirty="0">
                <a:solidFill>
                  <a:srgbClr val="569CD6"/>
                </a:solidFill>
                <a:latin typeface="Consolas"/>
              </a:rPr>
              <a:t>LEFT</a:t>
            </a:r>
            <a:r>
              <a:rPr lang="en-IN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IN" dirty="0" err="1">
                <a:solidFill>
                  <a:srgbClr val="4EC9B0"/>
                </a:solidFill>
                <a:latin typeface="Consolas"/>
              </a:rPr>
              <a:t>DurationText</a:t>
            </a:r>
            <a:r>
              <a:rPr lang="en-IN" dirty="0">
                <a:solidFill>
                  <a:srgbClr val="D4D4D4"/>
                </a:solidFill>
                <a:latin typeface="Consolas"/>
              </a:rPr>
              <a:t>, </a:t>
            </a:r>
            <a:r>
              <a:rPr lang="en-IN" dirty="0">
                <a:solidFill>
                  <a:srgbClr val="569CD6"/>
                </a:solidFill>
                <a:latin typeface="Consolas"/>
              </a:rPr>
              <a:t>SEARCH</a:t>
            </a:r>
            <a:r>
              <a:rPr lang="en-IN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IN" dirty="0">
                <a:solidFill>
                  <a:srgbClr val="D16989"/>
                </a:solidFill>
                <a:latin typeface="Consolas"/>
              </a:rPr>
              <a:t>"min"</a:t>
            </a:r>
            <a:r>
              <a:rPr lang="en-IN" dirty="0">
                <a:solidFill>
                  <a:srgbClr val="D4D4D4"/>
                </a:solidFill>
                <a:latin typeface="Consolas"/>
              </a:rPr>
              <a:t>, </a:t>
            </a:r>
            <a:r>
              <a:rPr lang="en-IN" dirty="0" err="1">
                <a:solidFill>
                  <a:srgbClr val="4EC9B0"/>
                </a:solidFill>
                <a:latin typeface="Consolas"/>
              </a:rPr>
              <a:t>DurationText</a:t>
            </a:r>
            <a:r>
              <a:rPr lang="en-IN" dirty="0">
                <a:solidFill>
                  <a:srgbClr val="D4D4D4"/>
                </a:solidFill>
                <a:latin typeface="Consolas"/>
              </a:rPr>
              <a:t>, </a:t>
            </a:r>
            <a:r>
              <a:rPr lang="en-IN" dirty="0">
                <a:solidFill>
                  <a:srgbClr val="B5CEA8"/>
                </a:solidFill>
                <a:latin typeface="Consolas"/>
              </a:rPr>
              <a:t>1</a:t>
            </a:r>
            <a:r>
              <a:rPr lang="en-IN" dirty="0">
                <a:solidFill>
                  <a:srgbClr val="D4D4D4"/>
                </a:solidFill>
                <a:latin typeface="Consolas"/>
              </a:rPr>
              <a:t>, </a:t>
            </a:r>
            <a:r>
              <a:rPr lang="en-IN" dirty="0">
                <a:solidFill>
                  <a:srgbClr val="B5CEA8"/>
                </a:solidFill>
                <a:latin typeface="Consolas"/>
              </a:rPr>
              <a:t>0</a:t>
            </a:r>
            <a:r>
              <a:rPr lang="en-IN" dirty="0">
                <a:solidFill>
                  <a:srgbClr val="D4D4D4"/>
                </a:solidFill>
                <a:latin typeface="Consolas"/>
              </a:rPr>
              <a:t>) - </a:t>
            </a:r>
            <a:r>
              <a:rPr lang="en-IN" dirty="0">
                <a:solidFill>
                  <a:srgbClr val="B5CEA8"/>
                </a:solidFill>
                <a:latin typeface="Consolas"/>
              </a:rPr>
              <a:t>1</a:t>
            </a:r>
            <a:r>
              <a:rPr lang="en-IN" dirty="0">
                <a:solidFill>
                  <a:srgbClr val="D4D4D4"/>
                </a:solidFill>
                <a:latin typeface="Consolas"/>
              </a:rPr>
              <a:t>)),</a:t>
            </a:r>
          </a:p>
          <a:p>
            <a:r>
              <a:rPr lang="en-IN" dirty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IN" dirty="0">
                <a:solidFill>
                  <a:srgbClr val="569CD6"/>
                </a:solidFill>
                <a:latin typeface="Consolas"/>
              </a:rPr>
              <a:t>BLANK</a:t>
            </a:r>
            <a:r>
              <a:rPr lang="en-IN" dirty="0">
                <a:solidFill>
                  <a:srgbClr val="D4D4D4"/>
                </a:solidFill>
                <a:latin typeface="Consolas"/>
              </a:rPr>
              <a:t>()</a:t>
            </a:r>
          </a:p>
          <a:p>
            <a:r>
              <a:rPr lang="en-IN" dirty="0">
                <a:solidFill>
                  <a:srgbClr val="D4D4D4"/>
                </a:solidFill>
                <a:latin typeface="Consolas"/>
              </a:rPr>
              <a:t>    )</a:t>
            </a:r>
          </a:p>
          <a:p>
            <a:r>
              <a:rPr lang="en-IN" dirty="0">
                <a:solidFill>
                  <a:srgbClr val="4FC1FF"/>
                </a:solidFill>
                <a:latin typeface="Consolas"/>
              </a:rPr>
              <a:t>RETURN</a:t>
            </a:r>
            <a:r>
              <a:rPr lang="en-IN" dirty="0">
                <a:solidFill>
                  <a:srgbClr val="D4D4D4"/>
                </a:solidFill>
                <a:latin typeface="Consolas"/>
              </a:rPr>
              <a:t> </a:t>
            </a:r>
            <a:r>
              <a:rPr lang="en-IN" dirty="0">
                <a:solidFill>
                  <a:srgbClr val="4EC9B0"/>
                </a:solidFill>
                <a:latin typeface="Consolas"/>
              </a:rPr>
              <a:t>Minutes</a:t>
            </a:r>
            <a:endParaRPr lang="en-IN" b="0" dirty="0">
              <a:solidFill>
                <a:srgbClr val="D4D4D4"/>
              </a:solidFill>
              <a:effectLst/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31599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C80000"/>
                </a:solidFill>
              </a:defRPr>
            </a:pPr>
            <a:r>
              <a:t>Maturity Rating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TV-MA: 3207 titles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TV-14: 2160 titles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TV-PG: 863 titles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R: 799 titles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PG-13: 490 titles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TV-Y7: 334 titles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TV-Y: 307 titles</a:t>
            </a:r>
          </a:p>
        </p:txBody>
      </p:sp>
      <p:pic>
        <p:nvPicPr>
          <p:cNvPr id="4" name="Picture 3" descr="glass_texture_bg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7176" y="340420"/>
            <a:ext cx="821531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  <a:latin typeface="Copperplate Gothic Bold" pitchFamily="34" charset="0"/>
              </a:rPr>
              <a:t>INSIGHTS BASED ON THE STUDY OBJECTIVES</a:t>
            </a:r>
            <a:endParaRPr lang="en-IN" sz="3200" b="1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FFFFFF">
                      <a:tint val="40000"/>
                      <a:satMod val="250000"/>
                    </a:srgbClr>
                  </a:gs>
                  <a:gs pos="9000">
                    <a:srgbClr val="FFFFFF">
                      <a:tint val="52000"/>
                      <a:satMod val="300000"/>
                    </a:srgbClr>
                  </a:gs>
                  <a:gs pos="50000">
                    <a:srgbClr val="FFFFFF">
                      <a:shade val="20000"/>
                      <a:satMod val="300000"/>
                    </a:srgbClr>
                  </a:gs>
                  <a:gs pos="79000">
                    <a:srgbClr val="FFFFFF">
                      <a:tint val="52000"/>
                      <a:satMod val="300000"/>
                    </a:srgbClr>
                  </a:gs>
                  <a:gs pos="100000">
                    <a:srgbClr val="FFFFFF">
                      <a:tint val="40000"/>
                      <a:satMod val="250000"/>
                    </a:srgbClr>
                  </a:gs>
                </a:gsLst>
                <a:lin ang="5400000"/>
              </a:gradFill>
              <a:latin typeface="Copperplate Gothic Bold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24282"/>
            <a:ext cx="3394075" cy="4948056"/>
          </a:xfrm>
          <a:prstGeom prst="rect">
            <a:avLst/>
          </a:prstGeom>
          <a:effectLst>
            <a:softEdge rad="635000"/>
          </a:effectLst>
        </p:spPr>
      </p:pic>
      <p:sp>
        <p:nvSpPr>
          <p:cNvPr id="8" name="TextBox 7"/>
          <p:cNvSpPr txBox="1"/>
          <p:nvPr/>
        </p:nvSpPr>
        <p:spPr>
          <a:xfrm>
            <a:off x="242887" y="1663859"/>
            <a:ext cx="8229601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fr-FR" sz="3200" b="1" dirty="0">
                <a:ln w="11430"/>
                <a:solidFill>
                  <a:srgbClr val="33CCFF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lgerian" pitchFamily="82" charset="0"/>
                <a:ea typeface="Adobe Gothic Std B" pitchFamily="34" charset="-128"/>
              </a:rPr>
              <a:t>Objective - 1  </a:t>
            </a:r>
            <a:r>
              <a:rPr lang="fr-FR" sz="3200" b="1" dirty="0" smtClean="0">
                <a:ln w="11430"/>
                <a:solidFill>
                  <a:srgbClr val="33CCFF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dobe Garamond Pro Bold" pitchFamily="18" charset="0"/>
                <a:ea typeface="Adobe Gothic Std B" pitchFamily="34" charset="-128"/>
              </a:rPr>
              <a:t>:</a:t>
            </a:r>
          </a:p>
          <a:p>
            <a:r>
              <a:rPr lang="fr-FR" sz="3200" dirty="0" smtClean="0">
                <a:solidFill>
                  <a:srgbClr val="33CCFF"/>
                </a:solidFill>
                <a:effectLst>
                  <a:glow rad="101600">
                    <a:schemeClr val="accent5">
                      <a:satMod val="175000"/>
                      <a:alpha val="40000"/>
                    </a:schemeClr>
                  </a:glow>
                </a:effectLst>
                <a:latin typeface="Adobe Garamond Pro Bold" pitchFamily="18" charset="0"/>
              </a:rPr>
              <a:t>Analyse </a:t>
            </a:r>
            <a:r>
              <a:rPr lang="fr-FR" sz="3200" dirty="0">
                <a:solidFill>
                  <a:srgbClr val="33CCFF"/>
                </a:solidFill>
                <a:effectLst>
                  <a:glow rad="101600">
                    <a:schemeClr val="accent5">
                      <a:satMod val="175000"/>
                      <a:alpha val="40000"/>
                    </a:schemeClr>
                  </a:glow>
                </a:effectLst>
                <a:latin typeface="Adobe Garamond Pro Bold" pitchFamily="18" charset="0"/>
              </a:rPr>
              <a:t>Netflix’s  </a:t>
            </a:r>
            <a:r>
              <a:rPr lang="fr-FR" sz="3200" dirty="0" smtClean="0">
                <a:solidFill>
                  <a:srgbClr val="33CCFF"/>
                </a:solidFill>
                <a:effectLst>
                  <a:glow rad="101600">
                    <a:schemeClr val="accent5">
                      <a:satMod val="175000"/>
                      <a:alpha val="40000"/>
                    </a:schemeClr>
                  </a:glow>
                </a:effectLst>
                <a:latin typeface="Adobe Garamond Pro Bold" pitchFamily="18" charset="0"/>
              </a:rPr>
              <a:t>Content </a:t>
            </a:r>
            <a:r>
              <a:rPr lang="fr-FR" sz="3200" dirty="0">
                <a:solidFill>
                  <a:srgbClr val="33CCFF"/>
                </a:solidFill>
                <a:effectLst>
                  <a:glow rad="101600">
                    <a:schemeClr val="accent5">
                      <a:satMod val="175000"/>
                      <a:alpha val="40000"/>
                    </a:schemeClr>
                  </a:glow>
                </a:effectLst>
                <a:latin typeface="Adobe Garamond Pro Bold" pitchFamily="18" charset="0"/>
              </a:rPr>
              <a:t>Distribution</a:t>
            </a:r>
          </a:p>
          <a:p>
            <a:endParaRPr lang="en-IN" sz="32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00475" y="2448689"/>
            <a:ext cx="4886325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endParaRPr lang="fr-FR" sz="2400" dirty="0">
              <a:solidFill>
                <a:srgbClr val="FF191E"/>
              </a:solidFill>
              <a:latin typeface="Adobe Garamond Pro Bold" pitchFamily="18" charset="0"/>
            </a:endParaRPr>
          </a:p>
          <a:p>
            <a:pPr marL="457200" indent="-457200">
              <a:buFont typeface="Wingdings" pitchFamily="2" charset="2"/>
              <a:buChar char="Ø"/>
            </a:pPr>
            <a:r>
              <a:rPr lang="en-US" sz="2400" dirty="0"/>
              <a:t>Netflix is </a:t>
            </a:r>
            <a:r>
              <a:rPr lang="en-US" sz="2400" b="1" dirty="0"/>
              <a:t>movie-dominant</a:t>
            </a:r>
            <a:r>
              <a:rPr lang="en-US" sz="2400" dirty="0"/>
              <a:t> (≈70% movies).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400" dirty="0"/>
              <a:t>Strong </a:t>
            </a:r>
            <a:r>
              <a:rPr lang="en-US" sz="2400" b="1" dirty="0"/>
              <a:t>genre diversity</a:t>
            </a:r>
            <a:r>
              <a:rPr lang="en-US" sz="2400" dirty="0"/>
              <a:t> with 500+ categories.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400" dirty="0"/>
              <a:t>Most content lasts </a:t>
            </a:r>
            <a:r>
              <a:rPr lang="en-US" sz="2400" b="1" dirty="0"/>
              <a:t>90–100 minutes</a:t>
            </a:r>
            <a:r>
              <a:rPr lang="en-US" sz="2400" dirty="0"/>
              <a:t>.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400" b="1" dirty="0"/>
              <a:t>TV-MA</a:t>
            </a:r>
            <a:r>
              <a:rPr lang="en-US" sz="2400" dirty="0"/>
              <a:t> leads, showing focus on </a:t>
            </a:r>
            <a:r>
              <a:rPr lang="en-US" sz="2400" b="1" dirty="0"/>
              <a:t>adult audiences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  <a:p>
            <a:endParaRPr lang="fr-FR" sz="2000" dirty="0" smtClean="0">
              <a:solidFill>
                <a:srgbClr val="FF191E"/>
              </a:solidFill>
              <a:latin typeface="Adobe Garamond Pro Bold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C80000"/>
                </a:solidFill>
              </a:defRPr>
            </a:pPr>
            <a:r>
              <a:t>Maturity Rating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TV-MA: 3207 titles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TV-14: 2160 titles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TV-PG: 863 titles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R: 799 titles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PG-13: 490 titles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TV-Y7: 334 titles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TV-Y: 307 titles</a:t>
            </a:r>
          </a:p>
        </p:txBody>
      </p:sp>
      <p:pic>
        <p:nvPicPr>
          <p:cNvPr id="4" name="Picture 3" descr="glass_texture_bg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5726" y="0"/>
            <a:ext cx="922972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7176" y="340420"/>
            <a:ext cx="82153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  <a:latin typeface="Copperplate Gothic Bold" pitchFamily="34" charset="0"/>
              </a:rPr>
              <a:t>INSIGHTS BASED ON THE STUDY OBJECTIVES</a:t>
            </a:r>
            <a:endParaRPr lang="en-IN" sz="2000" b="1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FFFFFF">
                      <a:tint val="40000"/>
                      <a:satMod val="250000"/>
                    </a:srgbClr>
                  </a:gs>
                  <a:gs pos="9000">
                    <a:srgbClr val="FFFFFF">
                      <a:tint val="52000"/>
                      <a:satMod val="300000"/>
                    </a:srgbClr>
                  </a:gs>
                  <a:gs pos="50000">
                    <a:srgbClr val="FFFFFF">
                      <a:shade val="20000"/>
                      <a:satMod val="300000"/>
                    </a:srgbClr>
                  </a:gs>
                  <a:gs pos="79000">
                    <a:srgbClr val="FFFFFF">
                      <a:tint val="52000"/>
                      <a:satMod val="300000"/>
                    </a:srgbClr>
                  </a:gs>
                  <a:gs pos="100000">
                    <a:srgbClr val="FFFFFF">
                      <a:tint val="40000"/>
                      <a:satMod val="250000"/>
                    </a:srgbClr>
                  </a:gs>
                </a:gsLst>
                <a:lin ang="5400000"/>
              </a:gradFill>
              <a:latin typeface="Copperplate Gothic Bold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7176" y="2795349"/>
            <a:ext cx="4843463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400" dirty="0" smtClean="0"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  <a:latin typeface="Adobe Garamond Pro Bold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sz="2400" b="1" dirty="0"/>
              <a:t>US contributes the most content</a:t>
            </a:r>
            <a:r>
              <a:rPr lang="en-US" sz="2400" dirty="0"/>
              <a:t>, followed by India, Japan, and Korea.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2400" dirty="0"/>
              <a:t>Major content clusters appear in </a:t>
            </a:r>
            <a:r>
              <a:rPr lang="en-US" sz="2400" b="1" dirty="0"/>
              <a:t>North America, Europe, and Asia</a:t>
            </a:r>
            <a:r>
              <a:rPr lang="en-US" sz="2400" dirty="0"/>
              <a:t>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2400" dirty="0"/>
              <a:t>Sharp growth after </a:t>
            </a:r>
            <a:r>
              <a:rPr lang="en-US" sz="2400" b="1" dirty="0"/>
              <a:t>2015</a:t>
            </a:r>
            <a:r>
              <a:rPr lang="en-US" sz="2400" dirty="0"/>
              <a:t>, driven by Netflix Originals and global expansion.</a:t>
            </a:r>
          </a:p>
          <a:p>
            <a:endParaRPr lang="fr-FR" dirty="0" smtClean="0"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  <a:latin typeface="Adobe Garamond Pro Bold" pitchFamily="18" charset="0"/>
            </a:endParaRPr>
          </a:p>
          <a:p>
            <a:endParaRPr lang="fr-FR" sz="2400" dirty="0" smtClean="0">
              <a:latin typeface="Adobe Garamond Pro Bold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1902" y="915291"/>
            <a:ext cx="10037474" cy="181588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r>
              <a:rPr lang="fr-FR" sz="2800" b="1" cap="all" dirty="0" smtClean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Algerian" pitchFamily="82" charset="0"/>
                <a:ea typeface="Adobe Gothic Std B" pitchFamily="34" charset="-128"/>
              </a:rPr>
              <a:t> Objective </a:t>
            </a:r>
            <a:r>
              <a:rPr lang="fr-FR" sz="2800" b="1" cap="all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Algerian" pitchFamily="82" charset="0"/>
                <a:ea typeface="Adobe Gothic Std B" pitchFamily="34" charset="-128"/>
              </a:rPr>
              <a:t>- 2  </a:t>
            </a:r>
            <a:r>
              <a:rPr lang="fr-FR" sz="2800" b="1" cap="all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Adobe Garamond Pro Bold" pitchFamily="18" charset="0"/>
                <a:ea typeface="Adobe Gothic Std B" pitchFamily="34" charset="-128"/>
              </a:rPr>
              <a:t>:  </a:t>
            </a:r>
            <a:endParaRPr lang="fr-FR" sz="2800" b="1" cap="all" dirty="0" smtClean="0">
              <a:ln/>
              <a:solidFill>
                <a:schemeClr val="accent1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  <a:latin typeface="Adobe Garamond Pro Bold" pitchFamily="18" charset="0"/>
              <a:ea typeface="Adobe Gothic Std B" pitchFamily="34" charset="-128"/>
            </a:endParaRPr>
          </a:p>
          <a:p>
            <a:endParaRPr lang="fr-FR" sz="2800" b="1" cap="all" dirty="0" smtClean="0">
              <a:ln/>
              <a:solidFill>
                <a:schemeClr val="accent1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  <a:latin typeface="Adobe Garamond Pro Bold" pitchFamily="18" charset="0"/>
              <a:ea typeface="Adobe Gothic Std B" pitchFamily="34" charset="-128"/>
            </a:endParaRPr>
          </a:p>
          <a:p>
            <a:r>
              <a:rPr lang="fr-FR" sz="2800" b="1" cap="all" dirty="0" smtClean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Adobe Garamond Pro Bold" pitchFamily="18" charset="0"/>
                <a:ea typeface="Adobe Gothic Std B" pitchFamily="34" charset="-128"/>
              </a:rPr>
              <a:t>  </a:t>
            </a:r>
            <a:r>
              <a:rPr lang="en-US" sz="2800" dirty="0">
                <a:solidFill>
                  <a:srgbClr val="33CCFF"/>
                </a:soli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</a:effectLst>
                <a:latin typeface="Adobe Garamond Pro Bold" pitchFamily="18" charset="0"/>
              </a:rPr>
              <a:t>Identify Global Content </a:t>
            </a:r>
            <a:r>
              <a:rPr lang="en-US" sz="2800" dirty="0" smtClean="0">
                <a:solidFill>
                  <a:srgbClr val="33CCFF"/>
                </a:soli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</a:effectLst>
                <a:latin typeface="Adobe Garamond Pro Bold" pitchFamily="18" charset="0"/>
              </a:rPr>
              <a:t>Patterns</a:t>
            </a:r>
          </a:p>
          <a:p>
            <a:r>
              <a:rPr lang="en-US" sz="2800" dirty="0" smtClean="0">
                <a:solidFill>
                  <a:srgbClr val="33CCFF"/>
                </a:soli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</a:effectLst>
                <a:latin typeface="Adobe Garamond Pro Bold" pitchFamily="18" charset="0"/>
              </a:rPr>
              <a:t> </a:t>
            </a:r>
            <a:r>
              <a:rPr lang="en-US" sz="2800" dirty="0">
                <a:solidFill>
                  <a:srgbClr val="33CCFF"/>
                </a:soli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</a:effectLst>
                <a:latin typeface="Adobe Garamond Pro Bold" pitchFamily="18" charset="0"/>
              </a:rPr>
              <a:t>&amp; Growth </a:t>
            </a:r>
            <a:r>
              <a:rPr lang="en-US" sz="2800" dirty="0" smtClean="0">
                <a:solidFill>
                  <a:srgbClr val="33CCFF"/>
                </a:soli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</a:effectLst>
                <a:latin typeface="Adobe Garamond Pro Bold" pitchFamily="18" charset="0"/>
              </a:rPr>
              <a:t>Trends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0639" y="1128713"/>
            <a:ext cx="3921902" cy="5729287"/>
          </a:xfrm>
          <a:prstGeom prst="rect">
            <a:avLst/>
          </a:prstGeom>
          <a:effectLst>
            <a:softEdge rad="635000"/>
          </a:effectLst>
        </p:spPr>
      </p:pic>
    </p:spTree>
    <p:extLst>
      <p:ext uri="{BB962C8B-B14F-4D97-AF65-F5344CB8AC3E}">
        <p14:creationId xmlns:p14="http://schemas.microsoft.com/office/powerpoint/2010/main" val="3638954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C80000"/>
                </a:solidFill>
              </a:defRPr>
            </a:pPr>
            <a:r>
              <a:t>Maturity Rating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TV-MA: 3207 titles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TV-14: 2160 titles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TV-PG: 863 titles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R: 799 titles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PG-13: 490 titles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TV-Y7: 334 titles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TV-Y: 307 titles</a:t>
            </a:r>
          </a:p>
        </p:txBody>
      </p:sp>
      <p:pic>
        <p:nvPicPr>
          <p:cNvPr id="4" name="Picture 3" descr="glass_texture_bg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7176" y="340420"/>
            <a:ext cx="8215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  <a:latin typeface="Copperplate Gothic Bold" pitchFamily="34" charset="0"/>
              </a:rPr>
              <a:t>INSIGHTS BASED ON THE STUDY OBJECTIVES</a:t>
            </a:r>
            <a:endParaRPr lang="en-IN" sz="2400" b="1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FFFFFF">
                      <a:tint val="40000"/>
                      <a:satMod val="250000"/>
                    </a:srgbClr>
                  </a:gs>
                  <a:gs pos="9000">
                    <a:srgbClr val="FFFFFF">
                      <a:tint val="52000"/>
                      <a:satMod val="300000"/>
                    </a:srgbClr>
                  </a:gs>
                  <a:gs pos="50000">
                    <a:srgbClr val="FFFFFF">
                      <a:shade val="20000"/>
                      <a:satMod val="300000"/>
                    </a:srgbClr>
                  </a:gs>
                  <a:gs pos="79000">
                    <a:srgbClr val="FFFFFF">
                      <a:tint val="52000"/>
                      <a:satMod val="300000"/>
                    </a:srgbClr>
                  </a:gs>
                  <a:gs pos="100000">
                    <a:srgbClr val="FFFFFF">
                      <a:tint val="40000"/>
                      <a:satMod val="250000"/>
                    </a:srgbClr>
                  </a:gs>
                </a:gsLst>
                <a:lin ang="5400000"/>
              </a:gradFill>
              <a:latin typeface="Copperplate Gothic Bold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7176" y="3047880"/>
            <a:ext cx="449341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/>
              <a:t>Netflix’s </a:t>
            </a:r>
            <a:r>
              <a:rPr lang="en-US" sz="2000" dirty="0"/>
              <a:t>library targets </a:t>
            </a:r>
            <a:r>
              <a:rPr lang="en-US" sz="2000" b="1" dirty="0"/>
              <a:t>adult &amp; teen viewers</a:t>
            </a:r>
            <a:r>
              <a:rPr lang="en-US" sz="2000" dirty="0"/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/>
              <a:t>Growing Asian content signals </a:t>
            </a:r>
            <a:r>
              <a:rPr lang="en-US" sz="2000" b="1" dirty="0"/>
              <a:t>strong regional opportunity</a:t>
            </a:r>
            <a:r>
              <a:rPr lang="en-US" sz="2000" dirty="0"/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/>
              <a:t>Balancing more TV shows could </a:t>
            </a:r>
            <a:r>
              <a:rPr lang="en-US" sz="2000" b="1" dirty="0"/>
              <a:t>boost long-term engagement</a:t>
            </a:r>
            <a:r>
              <a:rPr lang="en-US" sz="2000" dirty="0"/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/>
              <a:t>Genre diversity supports global viewer personalization.</a:t>
            </a:r>
          </a:p>
          <a:p>
            <a:endParaRPr lang="fr-FR" sz="2400" dirty="0" smtClean="0">
              <a:latin typeface="Adobe Garamond Pro Bold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7176" y="1085849"/>
            <a:ext cx="4529137" cy="209288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r>
              <a:rPr lang="fr-FR" sz="2800" b="1" cap="all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Algerian" pitchFamily="82" charset="0"/>
                <a:ea typeface="Adobe Gothic Std B" pitchFamily="34" charset="-128"/>
              </a:rPr>
              <a:t>Objective - 3  </a:t>
            </a:r>
            <a:r>
              <a:rPr lang="fr-FR" sz="2800" b="1" cap="all" dirty="0" smtClean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Adobe Garamond Pro Bold" pitchFamily="18" charset="0"/>
                <a:ea typeface="Adobe Gothic Std B" pitchFamily="34" charset="-128"/>
              </a:rPr>
              <a:t>:</a:t>
            </a:r>
          </a:p>
          <a:p>
            <a:endParaRPr lang="fr-FR" sz="2800" b="1" cap="all" dirty="0" smtClean="0">
              <a:ln/>
              <a:solidFill>
                <a:schemeClr val="accent1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  <a:latin typeface="Adobe Garamond Pro Bold" pitchFamily="18" charset="0"/>
              <a:ea typeface="Adobe Gothic Std B" pitchFamily="34" charset="-128"/>
            </a:endParaRPr>
          </a:p>
          <a:p>
            <a:r>
              <a:rPr lang="fr-FR" sz="2800" b="1" cap="all" dirty="0" smtClean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Adobe Garamond Pro Bold" pitchFamily="18" charset="0"/>
                <a:ea typeface="Adobe Gothic Std B" pitchFamily="34" charset="-128"/>
              </a:rPr>
              <a:t> </a:t>
            </a:r>
            <a:r>
              <a:rPr lang="en-US" sz="2800" dirty="0" smtClean="0">
                <a:solidFill>
                  <a:srgbClr val="33CCFF"/>
                </a:soli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</a:effectLst>
                <a:latin typeface="Adobe Garamond Pro Bold" pitchFamily="18" charset="0"/>
              </a:rPr>
              <a:t>Derive </a:t>
            </a:r>
            <a:r>
              <a:rPr lang="en-US" sz="2800" dirty="0">
                <a:solidFill>
                  <a:srgbClr val="33CCFF"/>
                </a:soli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</a:effectLst>
                <a:latin typeface="Adobe Garamond Pro Bold" pitchFamily="18" charset="0"/>
              </a:rPr>
              <a:t>Strategic Insights for </a:t>
            </a:r>
            <a:endParaRPr lang="en-US" sz="2800" dirty="0" smtClean="0">
              <a:solidFill>
                <a:srgbClr val="33CCFF"/>
              </a:solidFill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  <a:latin typeface="Adobe Garamond Pro Bold" pitchFamily="18" charset="0"/>
            </a:endParaRPr>
          </a:p>
          <a:p>
            <a:r>
              <a:rPr lang="en-US" sz="2800" dirty="0" smtClean="0">
                <a:solidFill>
                  <a:srgbClr val="33CCFF"/>
                </a:soli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</a:effectLst>
                <a:latin typeface="Adobe Garamond Pro Bold" pitchFamily="18" charset="0"/>
              </a:rPr>
              <a:t>Decision-Making</a:t>
            </a:r>
            <a:endParaRPr lang="en-US" sz="2800" dirty="0">
              <a:solidFill>
                <a:srgbClr val="33CCFF"/>
              </a:solidFill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  <a:latin typeface="Adobe Garamond Pro Bold" pitchFamily="18" charset="0"/>
            </a:endParaRPr>
          </a:p>
          <a:p>
            <a:endParaRPr lang="en-IN" b="1" cap="all" dirty="0">
              <a:ln/>
              <a:solidFill>
                <a:schemeClr val="accent1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313" y="937022"/>
            <a:ext cx="4357687" cy="5920978"/>
          </a:xfrm>
          <a:prstGeom prst="rect">
            <a:avLst/>
          </a:prstGeom>
          <a:effectLst>
            <a:softEdge rad="317500"/>
          </a:effectLst>
        </p:spPr>
      </p:pic>
    </p:spTree>
    <p:extLst>
      <p:ext uri="{BB962C8B-B14F-4D97-AF65-F5344CB8AC3E}">
        <p14:creationId xmlns:p14="http://schemas.microsoft.com/office/powerpoint/2010/main" val="3140227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C80000"/>
                </a:solidFill>
              </a:defRPr>
            </a:pPr>
            <a:r>
              <a:t>Duration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Movies mostly 80–120 minutes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TV shows usually 1–2 seasons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Short films increasing post-2018</a:t>
            </a:r>
          </a:p>
        </p:txBody>
      </p:sp>
      <p:pic>
        <p:nvPicPr>
          <p:cNvPr id="4" name="Picture 3" descr="glass_texture_bg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638"/>
            <a:ext cx="7943850" cy="110799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6600" b="1" spc="150" dirty="0" smtClean="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Copperplate Gothic Bold" pitchFamily="34" charset="0"/>
              </a:rPr>
              <a:t>CONCLUSION</a:t>
            </a:r>
            <a:endParaRPr lang="en-IN" sz="6600" b="1" spc="150" dirty="0">
              <a:ln w="11430"/>
              <a:solidFill>
                <a:srgbClr val="F8F8F8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Copperplate Gothic Bold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2931" y="1731962"/>
            <a:ext cx="8093869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000" dirty="0"/>
              <a:t>Netflix’s content library is dominated by movies, with a strong focus on adult and teen audiences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/>
              <a:t>The United States contributes the highest number of titles, followed by strong growth from countries like India and other Asian regions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/>
              <a:t>A significant increase in content after 2015 reflects Netflix’s global expansion and focus on original productions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/>
              <a:t>Overall, the analysis shows Netflix as a data-driven platform that leverages genre diversity and global sourcing to enhance viewer engagement and sustain long-term growth. </a:t>
            </a:r>
          </a:p>
          <a:p>
            <a:endParaRPr lang="en-IN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374611"/>
            <a:ext cx="794385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pperplate Gothic Bold" pitchFamily="34" charset="0"/>
              </a:rPr>
              <a:t>reference</a:t>
            </a:r>
            <a:endParaRPr lang="en-IN" sz="66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Copperplate Gothic Bold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1828800"/>
            <a:ext cx="2857500" cy="16002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4043362"/>
            <a:ext cx="3028950" cy="15144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00450" y="2090291"/>
            <a:ext cx="5043488" cy="95410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en-IN" sz="2800" b="1" spc="150" dirty="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</a:rPr>
              <a:t>https://www.kaggle.com/datasets/shivamb/netflix-shows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52850" y="4185791"/>
            <a:ext cx="5043488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en-IN" sz="2800" b="1" spc="150" dirty="0" smtClean="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</a:rPr>
              <a:t>Visualization Tool</a:t>
            </a:r>
            <a:endParaRPr lang="en-IN" sz="2800" b="1" spc="150" dirty="0">
              <a:ln w="11430"/>
              <a:solidFill>
                <a:srgbClr val="F8F8F8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98073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57313" y="3929062"/>
            <a:ext cx="6172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 flip="none" rotWithShape="1"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 scaled="1"/>
                  <a:tileRect/>
                </a:gradFill>
                <a:latin typeface="Lucida Handwriting" pitchFamily="66" charset="0"/>
              </a:rPr>
              <a:t>THANK YOU</a:t>
            </a:r>
            <a:endParaRPr lang="en-IN" sz="7200" b="1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gradFill flip="none" rotWithShape="1">
                <a:gsLst>
                  <a:gs pos="0">
                    <a:srgbClr val="FFFFFF">
                      <a:tint val="40000"/>
                      <a:satMod val="250000"/>
                    </a:srgbClr>
                  </a:gs>
                  <a:gs pos="9000">
                    <a:srgbClr val="FFFFFF">
                      <a:tint val="52000"/>
                      <a:satMod val="300000"/>
                    </a:srgbClr>
                  </a:gs>
                  <a:gs pos="50000">
                    <a:srgbClr val="FFFFFF">
                      <a:shade val="20000"/>
                      <a:satMod val="300000"/>
                    </a:srgbClr>
                  </a:gs>
                  <a:gs pos="79000">
                    <a:srgbClr val="FFFFFF">
                      <a:tint val="52000"/>
                      <a:satMod val="300000"/>
                    </a:srgbClr>
                  </a:gs>
                  <a:gs pos="100000">
                    <a:srgbClr val="FFFFFF">
                      <a:tint val="40000"/>
                      <a:satMod val="250000"/>
                    </a:srgbClr>
                  </a:gs>
                </a:gsLst>
                <a:lin ang="5400000" scaled="1"/>
                <a:tileRect/>
              </a:gradFill>
              <a:latin typeface="Lucida Handwriting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6345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523</TotalTime>
  <Words>1182</Words>
  <Application>Microsoft Office PowerPoint</Application>
  <PresentationFormat>On-screen Show (4:3)</PresentationFormat>
  <Paragraphs>234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NETFLIX CONTENT ANALYTICS</vt:lpstr>
      <vt:lpstr>PowerPoint Presentation</vt:lpstr>
      <vt:lpstr>PowerPoint Presentation</vt:lpstr>
      <vt:lpstr>Dataset Overview</vt:lpstr>
      <vt:lpstr>Dataset Overview</vt:lpstr>
      <vt:lpstr>Top Contributing Countries</vt:lpstr>
      <vt:lpstr>PowerPoint Presentation</vt:lpstr>
      <vt:lpstr>PowerPoint Presentation</vt:lpstr>
      <vt:lpstr>Top Contributing Countries</vt:lpstr>
      <vt:lpstr>Top Contributing Countries</vt:lpstr>
      <vt:lpstr>Top Contributing Countries</vt:lpstr>
      <vt:lpstr>Maturity Rating Distribution</vt:lpstr>
      <vt:lpstr>Maturity Rating Distribution</vt:lpstr>
      <vt:lpstr>Maturity Rating Distribution</vt:lpstr>
      <vt:lpstr>Duration Insights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NETFLIX CONTENT ANALYTICS</dc:title>
  <dc:subject/>
  <dc:creator/>
  <cp:keywords/>
  <dc:description>generated using python-pptx</dc:description>
  <cp:lastModifiedBy>admin</cp:lastModifiedBy>
  <cp:revision>69</cp:revision>
  <dcterms:created xsi:type="dcterms:W3CDTF">2013-01-27T09:14:16Z</dcterms:created>
  <dcterms:modified xsi:type="dcterms:W3CDTF">2025-12-04T17:37:42Z</dcterms:modified>
  <cp:category/>
</cp:coreProperties>
</file>